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chemeClr val="accent2"/>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chemeClr val="accent2"/>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chemeClr val="accent2"/>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chemeClr val="accent2"/>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chemeClr val="accent2"/>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chemeClr val="accent2"/>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chemeClr val="accent2"/>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chemeClr val="accent2"/>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chemeClr val="accent2"/>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chemeClr val="accent2"/>
        </a:fontRef>
        <a:schemeClr val="accent2"/>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6CFCC"/>
          </a:solidFill>
        </a:fill>
      </a:tcStyle>
    </a:wholeTbl>
    <a:band2H>
      <a:tcTxStyle b="def" i="def"/>
      <a:tcStyle>
        <a:tcBdr/>
        <a:fill>
          <a:solidFill>
            <a:srgbClr val="FBE8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chemeClr val="accent2"/>
        </a:fontRef>
        <a:schemeClr val="accent2"/>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6DAE0"/>
          </a:solidFill>
        </a:fill>
      </a:tcStyle>
    </a:wholeTbl>
    <a:band2H>
      <a:tcTxStyle b="def" i="def"/>
      <a:tcStyle>
        <a:tcBdr/>
        <a:fill>
          <a:solidFill>
            <a:srgbClr val="ECED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chemeClr val="accent2"/>
        </a:fontRef>
        <a:schemeClr val="accent2"/>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AE4CC"/>
          </a:solidFill>
        </a:fill>
      </a:tcStyle>
    </a:wholeTbl>
    <a:band2H>
      <a:tcTxStyle b="def" i="def"/>
      <a:tcStyle>
        <a:tcBdr/>
        <a:fill>
          <a:solidFill>
            <a:srgbClr val="FCF2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chemeClr val="accent2"/>
        </a:fontRef>
        <a:schemeClr val="accent2"/>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7E7E8"/>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chemeClr val="accent2"/>
        </a:fontRef>
        <a:schemeClr val="accent2"/>
      </a:tcTxStyle>
      <a:tcStyle>
        <a:tcBdr>
          <a:left>
            <a:ln w="12700" cap="flat">
              <a:noFill/>
              <a:miter lim="400000"/>
            </a:ln>
          </a:left>
          <a:right>
            <a:ln w="12700" cap="flat">
              <a:noFill/>
              <a:miter lim="400000"/>
            </a:ln>
          </a:right>
          <a:top>
            <a:ln w="50800" cap="flat">
              <a:solidFill>
                <a:schemeClr val="accent2"/>
              </a:solidFill>
              <a:prstDash val="solid"/>
              <a:round/>
            </a:ln>
          </a:top>
          <a:bottom>
            <a:ln w="25400" cap="flat">
              <a:solidFill>
                <a:schemeClr val="accent2"/>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chemeClr val="accent2"/>
              </a:solidFill>
              <a:prstDash val="solid"/>
              <a:round/>
            </a:ln>
          </a:top>
          <a:bottom>
            <a:ln w="25400" cap="flat">
              <a:solidFill>
                <a:schemeClr val="accent2"/>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chemeClr val="accent2"/>
        </a:fontRef>
        <a:schemeClr val="accent2"/>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BCD"/>
          </a:solidFill>
        </a:fill>
      </a:tcStyle>
    </a:wholeTbl>
    <a:band2H>
      <a:tcTxStyle b="def" i="def"/>
      <a:tcStyle>
        <a:tcBdr/>
        <a:fill>
          <a:solidFill>
            <a:srgbClr val="E7E7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2"/>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2"/>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2"/>
          </a:solidFill>
        </a:fill>
      </a:tcStyle>
    </a:firstRow>
  </a:tblStyle>
  <a:tblStyle styleId="{2708684C-4D16-4618-839F-0558EEFCDFE6}" styleName="">
    <a:tblBg/>
    <a:wholeTbl>
      <a:tcTxStyle b="off" i="off">
        <a:fontRef idx="major">
          <a:schemeClr val="accent2"/>
        </a:fontRef>
        <a:schemeClr val="accent2"/>
      </a:tcTxStyle>
      <a:tcStyle>
        <a:tcBdr>
          <a:left>
            <a:ln w="12700" cap="flat">
              <a:solidFill>
                <a:schemeClr val="accent2"/>
              </a:solidFill>
              <a:prstDash val="solid"/>
              <a:round/>
            </a:ln>
          </a:left>
          <a:right>
            <a:ln w="12700" cap="flat">
              <a:solidFill>
                <a:schemeClr val="accent2"/>
              </a:solidFill>
              <a:prstDash val="solid"/>
              <a:round/>
            </a:ln>
          </a:right>
          <a:top>
            <a:ln w="12700" cap="flat">
              <a:solidFill>
                <a:schemeClr val="accent2"/>
              </a:solidFill>
              <a:prstDash val="solid"/>
              <a:round/>
            </a:ln>
          </a:top>
          <a:bottom>
            <a:ln w="12700" cap="flat">
              <a:solidFill>
                <a:schemeClr val="accent2"/>
              </a:solidFill>
              <a:prstDash val="solid"/>
              <a:round/>
            </a:ln>
          </a:bottom>
          <a:insideH>
            <a:ln w="12700" cap="flat">
              <a:solidFill>
                <a:schemeClr val="accent2"/>
              </a:solidFill>
              <a:prstDash val="solid"/>
              <a:round/>
            </a:ln>
          </a:insideH>
          <a:insideV>
            <a:ln w="12700" cap="flat">
              <a:solidFill>
                <a:schemeClr val="accent2"/>
              </a:solidFill>
              <a:prstDash val="solid"/>
              <a:round/>
            </a:ln>
          </a:insideV>
        </a:tcBdr>
        <a:fill>
          <a:solidFill>
            <a:schemeClr val="accent2">
              <a:alpha val="20000"/>
            </a:schemeClr>
          </a:solidFill>
        </a:fill>
      </a:tcStyle>
    </a:wholeTbl>
    <a:band2H>
      <a:tcTxStyle b="def" i="def"/>
      <a:tcStyle>
        <a:tcBdr/>
        <a:fill>
          <a:solidFill>
            <a:srgbClr val="FFFFFF"/>
          </a:solidFill>
        </a:fill>
      </a:tcStyle>
    </a:band2H>
    <a:firstCol>
      <a:tcTxStyle b="on" i="off">
        <a:fontRef idx="major">
          <a:schemeClr val="accent2"/>
        </a:fontRef>
        <a:schemeClr val="accent2"/>
      </a:tcTxStyle>
      <a:tcStyle>
        <a:tcBdr>
          <a:left>
            <a:ln w="12700" cap="flat">
              <a:solidFill>
                <a:schemeClr val="accent2"/>
              </a:solidFill>
              <a:prstDash val="solid"/>
              <a:round/>
            </a:ln>
          </a:left>
          <a:right>
            <a:ln w="12700" cap="flat">
              <a:solidFill>
                <a:schemeClr val="accent2"/>
              </a:solidFill>
              <a:prstDash val="solid"/>
              <a:round/>
            </a:ln>
          </a:right>
          <a:top>
            <a:ln w="12700" cap="flat">
              <a:solidFill>
                <a:schemeClr val="accent2"/>
              </a:solidFill>
              <a:prstDash val="solid"/>
              <a:round/>
            </a:ln>
          </a:top>
          <a:bottom>
            <a:ln w="12700" cap="flat">
              <a:solidFill>
                <a:schemeClr val="accent2"/>
              </a:solidFill>
              <a:prstDash val="solid"/>
              <a:round/>
            </a:ln>
          </a:bottom>
          <a:insideH>
            <a:ln w="12700" cap="flat">
              <a:solidFill>
                <a:schemeClr val="accent2"/>
              </a:solidFill>
              <a:prstDash val="solid"/>
              <a:round/>
            </a:ln>
          </a:insideH>
          <a:insideV>
            <a:ln w="12700" cap="flat">
              <a:solidFill>
                <a:schemeClr val="accent2"/>
              </a:solidFill>
              <a:prstDash val="solid"/>
              <a:round/>
            </a:ln>
          </a:insideV>
        </a:tcBdr>
        <a:fill>
          <a:solidFill>
            <a:schemeClr val="accent2">
              <a:alpha val="20000"/>
            </a:schemeClr>
          </a:solidFill>
        </a:fill>
      </a:tcStyle>
    </a:firstCol>
    <a:lastRow>
      <a:tcTxStyle b="on" i="off">
        <a:fontRef idx="major">
          <a:schemeClr val="accent2"/>
        </a:fontRef>
        <a:schemeClr val="accent2"/>
      </a:tcTxStyle>
      <a:tcStyle>
        <a:tcBdr>
          <a:left>
            <a:ln w="12700" cap="flat">
              <a:solidFill>
                <a:schemeClr val="accent2"/>
              </a:solidFill>
              <a:prstDash val="solid"/>
              <a:round/>
            </a:ln>
          </a:left>
          <a:right>
            <a:ln w="12700" cap="flat">
              <a:solidFill>
                <a:schemeClr val="accent2"/>
              </a:solidFill>
              <a:prstDash val="solid"/>
              <a:round/>
            </a:ln>
          </a:right>
          <a:top>
            <a:ln w="50800" cap="flat">
              <a:solidFill>
                <a:schemeClr val="accent2"/>
              </a:solidFill>
              <a:prstDash val="solid"/>
              <a:round/>
            </a:ln>
          </a:top>
          <a:bottom>
            <a:ln w="12700" cap="flat">
              <a:solidFill>
                <a:schemeClr val="accent2"/>
              </a:solidFill>
              <a:prstDash val="solid"/>
              <a:round/>
            </a:ln>
          </a:bottom>
          <a:insideH>
            <a:ln w="12700" cap="flat">
              <a:solidFill>
                <a:schemeClr val="accent2"/>
              </a:solidFill>
              <a:prstDash val="solid"/>
              <a:round/>
            </a:ln>
          </a:insideH>
          <a:insideV>
            <a:ln w="12700" cap="flat">
              <a:solidFill>
                <a:schemeClr val="accent2"/>
              </a:solidFill>
              <a:prstDash val="solid"/>
              <a:round/>
            </a:ln>
          </a:insideV>
        </a:tcBdr>
        <a:fill>
          <a:noFill/>
        </a:fill>
      </a:tcStyle>
    </a:lastRow>
    <a:firstRow>
      <a:tcTxStyle b="on" i="off">
        <a:fontRef idx="major">
          <a:schemeClr val="accent2"/>
        </a:fontRef>
        <a:schemeClr val="accent2"/>
      </a:tcTxStyle>
      <a:tcStyle>
        <a:tcBdr>
          <a:left>
            <a:ln w="12700" cap="flat">
              <a:solidFill>
                <a:schemeClr val="accent2"/>
              </a:solidFill>
              <a:prstDash val="solid"/>
              <a:round/>
            </a:ln>
          </a:left>
          <a:right>
            <a:ln w="12700" cap="flat">
              <a:solidFill>
                <a:schemeClr val="accent2"/>
              </a:solidFill>
              <a:prstDash val="solid"/>
              <a:round/>
            </a:ln>
          </a:right>
          <a:top>
            <a:ln w="12700" cap="flat">
              <a:solidFill>
                <a:schemeClr val="accent2"/>
              </a:solidFill>
              <a:prstDash val="solid"/>
              <a:round/>
            </a:ln>
          </a:top>
          <a:bottom>
            <a:ln w="25400" cap="flat">
              <a:solidFill>
                <a:schemeClr val="accent2"/>
              </a:solidFill>
              <a:prstDash val="solid"/>
              <a:round/>
            </a:ln>
          </a:bottom>
          <a:insideH>
            <a:ln w="12700" cap="flat">
              <a:solidFill>
                <a:schemeClr val="accent2"/>
              </a:solidFill>
              <a:prstDash val="solid"/>
              <a:round/>
            </a:ln>
          </a:insideH>
          <a:insideV>
            <a:ln w="12700" cap="flat">
              <a:solidFill>
                <a:schemeClr val="accent2"/>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42" name="Shape 42"/>
          <p:cNvSpPr/>
          <p:nvPr>
            <p:ph type="sldImg"/>
          </p:nvPr>
        </p:nvSpPr>
        <p:spPr>
          <a:xfrm>
            <a:off x="1143000" y="685800"/>
            <a:ext cx="4572000" cy="3429000"/>
          </a:xfrm>
          <a:prstGeom prst="rect">
            <a:avLst/>
          </a:prstGeom>
        </p:spPr>
        <p:txBody>
          <a:bodyPr/>
          <a:lstStyle/>
          <a:p>
            <a:pPr/>
          </a:p>
        </p:txBody>
      </p:sp>
      <p:sp>
        <p:nvSpPr>
          <p:cNvPr id="43" name="Shape 43"/>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solidFill>
          <a:schemeClr val="accent2"/>
        </a:solidFill>
        <a:latin typeface="+mj-lt"/>
        <a:ea typeface="+mj-ea"/>
        <a:cs typeface="+mj-cs"/>
        <a:sym typeface="Calibri"/>
      </a:defRPr>
    </a:lvl1pPr>
    <a:lvl2pPr indent="228600" latinLnBrk="0">
      <a:defRPr sz="1200">
        <a:solidFill>
          <a:schemeClr val="accent2"/>
        </a:solidFill>
        <a:latin typeface="+mj-lt"/>
        <a:ea typeface="+mj-ea"/>
        <a:cs typeface="+mj-cs"/>
        <a:sym typeface="Calibri"/>
      </a:defRPr>
    </a:lvl2pPr>
    <a:lvl3pPr indent="457200" latinLnBrk="0">
      <a:defRPr sz="1200">
        <a:solidFill>
          <a:schemeClr val="accent2"/>
        </a:solidFill>
        <a:latin typeface="+mj-lt"/>
        <a:ea typeface="+mj-ea"/>
        <a:cs typeface="+mj-cs"/>
        <a:sym typeface="Calibri"/>
      </a:defRPr>
    </a:lvl3pPr>
    <a:lvl4pPr indent="685800" latinLnBrk="0">
      <a:defRPr sz="1200">
        <a:solidFill>
          <a:schemeClr val="accent2"/>
        </a:solidFill>
        <a:latin typeface="+mj-lt"/>
        <a:ea typeface="+mj-ea"/>
        <a:cs typeface="+mj-cs"/>
        <a:sym typeface="Calibri"/>
      </a:defRPr>
    </a:lvl4pPr>
    <a:lvl5pPr indent="914400" latinLnBrk="0">
      <a:defRPr sz="1200">
        <a:solidFill>
          <a:schemeClr val="accent2"/>
        </a:solidFill>
        <a:latin typeface="+mj-lt"/>
        <a:ea typeface="+mj-ea"/>
        <a:cs typeface="+mj-cs"/>
        <a:sym typeface="Calibri"/>
      </a:defRPr>
    </a:lvl5pPr>
    <a:lvl6pPr indent="1143000" latinLnBrk="0">
      <a:defRPr sz="1200">
        <a:solidFill>
          <a:schemeClr val="accent2"/>
        </a:solidFill>
        <a:latin typeface="+mj-lt"/>
        <a:ea typeface="+mj-ea"/>
        <a:cs typeface="+mj-cs"/>
        <a:sym typeface="Calibri"/>
      </a:defRPr>
    </a:lvl6pPr>
    <a:lvl7pPr indent="1371600" latinLnBrk="0">
      <a:defRPr sz="1200">
        <a:solidFill>
          <a:schemeClr val="accent2"/>
        </a:solidFill>
        <a:latin typeface="+mj-lt"/>
        <a:ea typeface="+mj-ea"/>
        <a:cs typeface="+mj-cs"/>
        <a:sym typeface="Calibri"/>
      </a:defRPr>
    </a:lvl7pPr>
    <a:lvl8pPr indent="1600200" latinLnBrk="0">
      <a:defRPr sz="1200">
        <a:solidFill>
          <a:schemeClr val="accent2"/>
        </a:solidFill>
        <a:latin typeface="+mj-lt"/>
        <a:ea typeface="+mj-ea"/>
        <a:cs typeface="+mj-cs"/>
        <a:sym typeface="Calibri"/>
      </a:defRPr>
    </a:lvl8pPr>
    <a:lvl9pPr indent="1828800" latinLnBrk="0">
      <a:defRPr sz="1200">
        <a:solidFill>
          <a:schemeClr val="accent2"/>
        </a:solidFill>
        <a:latin typeface="+mj-lt"/>
        <a:ea typeface="+mj-ea"/>
        <a:cs typeface="+mj-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 name="Shape 47"/>
          <p:cNvSpPr/>
          <p:nvPr>
            <p:ph type="sldImg"/>
          </p:nvPr>
        </p:nvSpPr>
        <p:spPr>
          <a:prstGeom prst="rect">
            <a:avLst/>
          </a:prstGeom>
        </p:spPr>
        <p:txBody>
          <a:bodyPr/>
          <a:lstStyle/>
          <a:p>
            <a:pPr/>
          </a:p>
        </p:txBody>
      </p:sp>
      <p:sp>
        <p:nvSpPr>
          <p:cNvPr id="48" name="Shape 48"/>
          <p:cNvSpPr/>
          <p:nvPr>
            <p:ph type="body" sz="quarter" idx="1"/>
          </p:nvPr>
        </p:nvSpPr>
        <p:spPr>
          <a:prstGeom prst="rect">
            <a:avLst/>
          </a:prstGeom>
        </p:spPr>
        <p:txBody>
          <a:bodyPr/>
          <a:lstStyle/>
          <a:p>
            <a:pPr/>
            <a:r>
              <a:t>About 10 seconds: say your name and the project title, and move on.</a:t>
            </a:r>
          </a:p>
          <a:p>
            <a:pPr/>
            <a:r>
              <a:t>The rules: five slides, three minutes, then two minutes of questions. Do not add slides, and do not make the text smaller to fit more in — cut words instead.</a:t>
            </a:r>
          </a:p>
          <a:p>
            <a:pPr/>
            <a:r>
              <a:t>Each slide comes from your idea evaluation or your literature check. If a slide is hard to fill, that part of your idea evaluation needs work.</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5" name="Shape 55"/>
          <p:cNvSpPr/>
          <p:nvPr>
            <p:ph type="sldImg"/>
          </p:nvPr>
        </p:nvSpPr>
        <p:spPr>
          <a:prstGeom prst="rect">
            <a:avLst/>
          </a:prstGeom>
        </p:spPr>
        <p:txBody>
          <a:bodyPr/>
          <a:lstStyle/>
          <a:p>
            <a:pPr/>
          </a:p>
        </p:txBody>
      </p:sp>
      <p:sp>
        <p:nvSpPr>
          <p:cNvPr id="56" name="Shape 56"/>
          <p:cNvSpPr/>
          <p:nvPr>
            <p:ph type="body" sz="quarter" idx="1"/>
          </p:nvPr>
        </p:nvSpPr>
        <p:spPr>
          <a:prstGeom prst="rect">
            <a:avLst/>
          </a:prstGeom>
        </p:spPr>
        <p:txBody>
          <a:bodyPr/>
          <a:lstStyle/>
          <a:p>
            <a:pPr/>
            <a:r>
              <a:t>About 45 seconds.</a:t>
            </a:r>
          </a:p>
          <a:p>
            <a:pPr/>
            <a:r>
              <a:t>Read your three sentences as written. If you need more than three sentences, the problem is not narrow enough yet.</a:t>
            </a:r>
          </a:p>
          <a:p>
            <a:pPr/>
            <a:r>
              <a:t>Then say whether it is a new problem or an old one. If new, why it matters. If old, what has been tried and why that is not good enough.</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3" name="Shape 63"/>
          <p:cNvSpPr/>
          <p:nvPr>
            <p:ph type="sldImg"/>
          </p:nvPr>
        </p:nvSpPr>
        <p:spPr>
          <a:prstGeom prst="rect">
            <a:avLst/>
          </a:prstGeom>
        </p:spPr>
        <p:txBody>
          <a:bodyPr/>
          <a:lstStyle/>
          <a:p>
            <a:pPr/>
          </a:p>
        </p:txBody>
      </p:sp>
      <p:sp>
        <p:nvSpPr>
          <p:cNvPr id="64" name="Shape 64"/>
          <p:cNvSpPr/>
          <p:nvPr>
            <p:ph type="body" sz="quarter" idx="1"/>
          </p:nvPr>
        </p:nvSpPr>
        <p:spPr>
          <a:prstGeom prst="rect">
            <a:avLst/>
          </a:prstGeom>
        </p:spPr>
        <p:txBody>
          <a:bodyPr/>
          <a:lstStyle/>
          <a:p>
            <a:pPr/>
            <a:r>
              <a:t>About 45 seconds. This slide comes from your literature check (my_work/literature_verification.md).</a:t>
            </a:r>
          </a:p>
          <a:p>
            <a:pPr/>
            <a:r>
              <a:t>Name the three works closest to yours — only works you have opened and checked yourself — and what each does not do.</a:t>
            </a:r>
          </a:p>
          <a:p>
            <a:pPr/>
            <a:r>
              <a:t>Then say the gap in one sentence, and what you changed in your project because of the check — if anything.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1" name="Shape 71"/>
          <p:cNvSpPr/>
          <p:nvPr>
            <p:ph type="sldImg"/>
          </p:nvPr>
        </p:nvSpPr>
        <p:spPr>
          <a:prstGeom prst="rect">
            <a:avLst/>
          </a:prstGeom>
        </p:spPr>
        <p:txBody>
          <a:bodyPr/>
          <a:lstStyle/>
          <a:p>
            <a:pPr/>
          </a:p>
        </p:txBody>
      </p:sp>
      <p:sp>
        <p:nvSpPr>
          <p:cNvPr id="72" name="Shape 72"/>
          <p:cNvSpPr/>
          <p:nvPr>
            <p:ph type="body" sz="quarter" idx="1"/>
          </p:nvPr>
        </p:nvSpPr>
        <p:spPr>
          <a:prstGeom prst="rect">
            <a:avLst/>
          </a:prstGeom>
        </p:spPr>
        <p:txBody>
          <a:bodyPr/>
          <a:lstStyle/>
          <a:p>
            <a:pPr/>
            <a:r>
              <a:t>About 45 seconds. Sections 4, 5 and 7 of your idea evaluation.</a:t>
            </a:r>
          </a:p>
          <a:p>
            <a:pPr/>
            <a:r>
              <a:t>Say your contribution type, and how the gap points to it. Then your contributions — each one names the problem, your method and what is gained, not just what you did.</a:t>
            </a:r>
          </a:p>
          <a:p>
            <a:pPr/>
            <a:r>
              <a:t>Finish with the necessity test: take away the making, then the site. Both should break the project; say why.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9" name="Shape 79"/>
          <p:cNvSpPr/>
          <p:nvPr>
            <p:ph type="sldImg"/>
          </p:nvPr>
        </p:nvSpPr>
        <p:spPr>
          <a:prstGeom prst="rect">
            <a:avLst/>
          </a:prstGeom>
        </p:spPr>
        <p:txBody>
          <a:bodyPr/>
          <a:lstStyle/>
          <a:p>
            <a:pPr/>
          </a:p>
        </p:txBody>
      </p:sp>
      <p:sp>
        <p:nvSpPr>
          <p:cNvPr id="80" name="Shape 80"/>
          <p:cNvSpPr/>
          <p:nvPr>
            <p:ph type="body" sz="quarter" idx="1"/>
          </p:nvPr>
        </p:nvSpPr>
        <p:spPr>
          <a:prstGeom prst="rect">
            <a:avLst/>
          </a:prstGeom>
        </p:spPr>
        <p:txBody>
          <a:bodyPr/>
          <a:lstStyle/>
          <a:p>
            <a:pPr/>
            <a:r>
              <a:t>About 45 seconds.</a:t>
            </a:r>
          </a:p>
          <a:p>
            <a:pPr/>
            <a:r>
              <a:t>Name your primary venue and track, the format and the deadline, and one thing its review form rewards. Give your backup.</a:t>
            </a:r>
          </a:p>
          <a:p>
            <a:pPr/>
            <a:r>
              <a:t>Then the made thing: what it is, which machine or material, and whether it is booked. One image if you have one.</a:t>
            </a:r>
          </a:p>
          <a:p>
            <a:pPr/>
            <a:r>
              <a:t>Stop. Questions follow.</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ENCE_TITLE">
    <p:bg>
      <p:bgPr>
        <a:solidFill>
          <a:schemeClr val="accent2"/>
        </a:solidFill>
      </p:bgPr>
    </p:bg>
    <p:spTree>
      <p:nvGrpSpPr>
        <p:cNvPr id="1" name=""/>
        <p:cNvGrpSpPr/>
        <p:nvPr/>
      </p:nvGrpSpPr>
      <p:grpSpPr>
        <a:xfrm>
          <a:off x="0" y="0"/>
          <a:ext cx="0" cy="0"/>
          <a:chOff x="0" y="0"/>
          <a:chExt cx="0" cy="0"/>
        </a:xfrm>
      </p:grpSpPr>
      <p:sp>
        <p:nvSpPr>
          <p:cNvPr id="18" name="Text 0"/>
          <p:cNvSpPr txBox="1"/>
          <p:nvPr/>
        </p:nvSpPr>
        <p:spPr>
          <a:xfrm>
            <a:off x="731519" y="718383"/>
            <a:ext cx="822960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chemeClr val="accent1"/>
                </a:solidFill>
              </a:defRPr>
            </a:lvl1pPr>
          </a:lstStyle>
          <a:p>
            <a:pPr/>
            <a:r>
              <a:t>3 minutes · 5 slides · then 2 minutes of questions</a:t>
            </a:r>
          </a:p>
        </p:txBody>
      </p:sp>
      <p:sp>
        <p:nvSpPr>
          <p:cNvPr id="19" name="Click to add title"/>
          <p:cNvSpPr txBox="1"/>
          <p:nvPr>
            <p:ph type="title" hasCustomPrompt="1"/>
          </p:nvPr>
        </p:nvSpPr>
        <p:spPr>
          <a:xfrm>
            <a:off x="731519" y="2011679"/>
            <a:ext cx="10698482" cy="1463041"/>
          </a:xfrm>
          <a:prstGeom prst="rect">
            <a:avLst/>
          </a:prstGeom>
        </p:spPr>
        <p:txBody>
          <a:bodyPr anchor="t">
            <a:normAutofit fontScale="100000" lnSpcReduction="0"/>
          </a:bodyPr>
          <a:lstStyle>
            <a:lvl1pPr algn="l">
              <a:defRPr b="1">
                <a:solidFill>
                  <a:srgbClr val="FFFFFF"/>
                </a:solidFill>
              </a:defRPr>
            </a:lvl1pPr>
          </a:lstStyle>
          <a:p>
            <a:pPr/>
            <a:r>
              <a:t>Click to add title</a:t>
            </a:r>
          </a:p>
        </p:txBody>
      </p:sp>
      <p:sp>
        <p:nvSpPr>
          <p:cNvPr id="20" name="正文级别 1…"/>
          <p:cNvSpPr txBox="1"/>
          <p:nvPr>
            <p:ph type="body" sz="half" idx="1" hasCustomPrompt="1"/>
          </p:nvPr>
        </p:nvSpPr>
        <p:spPr>
          <a:xfrm>
            <a:off x="731519" y="3703320"/>
            <a:ext cx="10698482" cy="1737361"/>
          </a:xfrm>
          <a:prstGeom prst="rect">
            <a:avLst/>
          </a:prstGeom>
        </p:spPr>
        <p:txBody>
          <a:bodyPr>
            <a:normAutofit fontScale="100000" lnSpcReduction="0"/>
          </a:bodyPr>
          <a:lstStyle>
            <a:lvl1pPr marL="0" indent="0">
              <a:spcBef>
                <a:spcPts val="500"/>
              </a:spcBef>
              <a:buSzTx/>
              <a:buFontTx/>
              <a:buNone/>
              <a:defRPr sz="2200">
                <a:solidFill>
                  <a:schemeClr val="accent4"/>
                </a:solidFill>
              </a:defRPr>
            </a:lvl1pPr>
            <a:lvl2pPr marL="681717" indent="-224517">
              <a:spcBef>
                <a:spcPts val="500"/>
              </a:spcBef>
              <a:buFontTx/>
              <a:defRPr sz="2200">
                <a:solidFill>
                  <a:schemeClr val="accent4"/>
                </a:solidFill>
              </a:defRPr>
            </a:lvl2pPr>
            <a:lvl3pPr marL="1123950" indent="-209550">
              <a:spcBef>
                <a:spcPts val="500"/>
              </a:spcBef>
              <a:buFontTx/>
              <a:defRPr sz="2200">
                <a:solidFill>
                  <a:schemeClr val="accent4"/>
                </a:solidFill>
              </a:defRPr>
            </a:lvl3pPr>
            <a:lvl4pPr marL="1623060" indent="-251460">
              <a:spcBef>
                <a:spcPts val="500"/>
              </a:spcBef>
              <a:buFontTx/>
              <a:defRPr sz="2200">
                <a:solidFill>
                  <a:schemeClr val="accent4"/>
                </a:solidFill>
              </a:defRPr>
            </a:lvl4pPr>
            <a:lvl5pPr marL="2080260" indent="-251460">
              <a:spcBef>
                <a:spcPts val="500"/>
              </a:spcBef>
              <a:buFontTx/>
              <a:defRPr sz="2200">
                <a:solidFill>
                  <a:schemeClr val="accent4"/>
                </a:solidFill>
              </a:defRPr>
            </a:lvl5pPr>
          </a:lstStyle>
          <a:p>
            <a:pPr/>
            <a:r>
              <a:t>Click to add text</a:t>
            </a:r>
          </a:p>
          <a:p>
            <a:pPr lvl="1"/>
            <a:r>
              <a:t/>
            </a:r>
          </a:p>
          <a:p>
            <a:pPr lvl="2"/>
            <a:r>
              <a:t/>
            </a:r>
          </a:p>
          <a:p>
            <a:pPr lvl="3"/>
            <a:r>
              <a:t/>
            </a:r>
          </a:p>
          <a:p>
            <a:pPr lvl="4"/>
            <a:r>
              <a:t/>
            </a:r>
          </a:p>
        </p:txBody>
      </p:sp>
      <p:sp>
        <p:nvSpPr>
          <p:cNvPr id="21" name="Text 1"/>
          <p:cNvSpPr txBox="1"/>
          <p:nvPr/>
        </p:nvSpPr>
        <p:spPr>
          <a:xfrm>
            <a:off x="731519" y="6191820"/>
            <a:ext cx="731520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chemeClr val="accent3"/>
                </a:solidFill>
              </a:defRPr>
            </a:lvl1pPr>
          </a:lstStyle>
          <a:p>
            <a:pPr/>
            <a:r>
              <a:t>ARTD8105 · Session 8 · 14 October 2026</a:t>
            </a:r>
          </a:p>
        </p:txBody>
      </p:sp>
      <p:sp>
        <p:nvSpPr>
          <p:cNvPr id="22"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ENCE_CONTENT">
    <p:spTree>
      <p:nvGrpSpPr>
        <p:cNvPr id="1" name=""/>
        <p:cNvGrpSpPr/>
        <p:nvPr/>
      </p:nvGrpSpPr>
      <p:grpSpPr>
        <a:xfrm>
          <a:off x="0" y="0"/>
          <a:ext cx="0" cy="0"/>
          <a:chOff x="0" y="0"/>
          <a:chExt cx="0" cy="0"/>
        </a:xfrm>
      </p:grpSpPr>
      <p:sp>
        <p:nvSpPr>
          <p:cNvPr id="29" name="Click to add title"/>
          <p:cNvSpPr txBox="1"/>
          <p:nvPr>
            <p:ph type="title" hasCustomPrompt="1"/>
          </p:nvPr>
        </p:nvSpPr>
        <p:spPr>
          <a:xfrm>
            <a:off x="548640" y="320040"/>
            <a:ext cx="8778241" cy="777241"/>
          </a:xfrm>
          <a:prstGeom prst="rect">
            <a:avLst/>
          </a:prstGeom>
        </p:spPr>
        <p:txBody>
          <a:bodyPr anchor="t">
            <a:normAutofit fontScale="100000" lnSpcReduction="0"/>
          </a:bodyPr>
          <a:lstStyle>
            <a:lvl1pPr algn="l">
              <a:defRPr b="1" sz="3200"/>
            </a:lvl1pPr>
          </a:lstStyle>
          <a:p>
            <a:pPr/>
            <a:r>
              <a:t>Click to add title</a:t>
            </a:r>
          </a:p>
        </p:txBody>
      </p:sp>
      <p:sp>
        <p:nvSpPr>
          <p:cNvPr id="30" name="Shape 0"/>
          <p:cNvSpPr/>
          <p:nvPr/>
        </p:nvSpPr>
        <p:spPr>
          <a:xfrm>
            <a:off x="9646919" y="438912"/>
            <a:ext cx="1965961" cy="530352"/>
          </a:xfrm>
          <a:prstGeom prst="rect">
            <a:avLst/>
          </a:prstGeom>
          <a:solidFill>
            <a:schemeClr val="accent4">
              <a:lumOff val="5606"/>
            </a:schemeClr>
          </a:solidFill>
          <a:ln w="12700">
            <a:miter lim="400000"/>
          </a:ln>
        </p:spPr>
        <p:txBody>
          <a:bodyPr lIns="45719" rIns="45719"/>
          <a:lstStyle/>
          <a:p>
            <a:pPr/>
          </a:p>
        </p:txBody>
      </p:sp>
      <p:sp>
        <p:nvSpPr>
          <p:cNvPr id="31" name="Text 1"/>
          <p:cNvSpPr txBox="1"/>
          <p:nvPr/>
        </p:nvSpPr>
        <p:spPr>
          <a:xfrm>
            <a:off x="9646919" y="609408"/>
            <a:ext cx="196596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chemeClr val="accent1"/>
                </a:solidFill>
              </a:defRPr>
            </a:lvl1pPr>
          </a:lstStyle>
          <a:p>
            <a:pPr/>
            <a:r>
              <a:t>about 45 seconds</a:t>
            </a:r>
          </a:p>
        </p:txBody>
      </p:sp>
      <p:sp>
        <p:nvSpPr>
          <p:cNvPr id="32" name="正文级别 1…"/>
          <p:cNvSpPr txBox="1"/>
          <p:nvPr>
            <p:ph type="body" sz="half" idx="1" hasCustomPrompt="1"/>
          </p:nvPr>
        </p:nvSpPr>
        <p:spPr>
          <a:xfrm>
            <a:off x="548640" y="1371600"/>
            <a:ext cx="6766560" cy="4663441"/>
          </a:xfrm>
          <a:prstGeom prst="rect">
            <a:avLst/>
          </a:prstGeom>
        </p:spPr>
        <p:txBody>
          <a:bodyPr>
            <a:normAutofit fontScale="100000" lnSpcReduction="0"/>
          </a:bodyPr>
          <a:lstStyle>
            <a:lvl1pPr marL="0" indent="0">
              <a:spcBef>
                <a:spcPts val="500"/>
              </a:spcBef>
              <a:buSzTx/>
              <a:buFontTx/>
              <a:buNone/>
              <a:defRPr sz="2200"/>
            </a:lvl1pPr>
            <a:lvl2pPr marL="681717" indent="-224517">
              <a:spcBef>
                <a:spcPts val="500"/>
              </a:spcBef>
              <a:buFontTx/>
              <a:defRPr sz="2200"/>
            </a:lvl2pPr>
            <a:lvl3pPr marL="1123950" indent="-209550">
              <a:spcBef>
                <a:spcPts val="500"/>
              </a:spcBef>
              <a:buFontTx/>
              <a:defRPr sz="2200"/>
            </a:lvl3pPr>
            <a:lvl4pPr marL="1623060" indent="-251460">
              <a:spcBef>
                <a:spcPts val="500"/>
              </a:spcBef>
              <a:buFontTx/>
              <a:defRPr sz="2200"/>
            </a:lvl4pPr>
            <a:lvl5pPr marL="2080260" indent="-251460">
              <a:spcBef>
                <a:spcPts val="500"/>
              </a:spcBef>
              <a:buFontTx/>
              <a:defRPr sz="2200"/>
            </a:lvl5pPr>
          </a:lstStyle>
          <a:p>
            <a:pPr/>
            <a:r>
              <a:t>Click to add text</a:t>
            </a:r>
          </a:p>
          <a:p>
            <a:pPr lvl="1"/>
            <a:r>
              <a:t/>
            </a:r>
          </a:p>
          <a:p>
            <a:pPr lvl="2"/>
            <a:r>
              <a:t/>
            </a:r>
          </a:p>
          <a:p>
            <a:pPr lvl="3"/>
            <a:r>
              <a:t/>
            </a:r>
          </a:p>
          <a:p>
            <a:pPr lvl="4"/>
            <a:r>
              <a:t/>
            </a:r>
          </a:p>
        </p:txBody>
      </p:sp>
      <p:sp>
        <p:nvSpPr>
          <p:cNvPr id="33" name="Shape 2"/>
          <p:cNvSpPr/>
          <p:nvPr/>
        </p:nvSpPr>
        <p:spPr>
          <a:xfrm>
            <a:off x="7635240" y="1371599"/>
            <a:ext cx="3977641" cy="4663442"/>
          </a:xfrm>
          <a:prstGeom prst="rect">
            <a:avLst/>
          </a:prstGeom>
          <a:solidFill>
            <a:schemeClr val="accent4">
              <a:lumOff val="5606"/>
            </a:schemeClr>
          </a:solidFill>
          <a:ln w="12700">
            <a:miter lim="400000"/>
          </a:ln>
        </p:spPr>
        <p:txBody>
          <a:bodyPr lIns="45719" rIns="45719"/>
          <a:lstStyle/>
          <a:p>
            <a:pPr/>
          </a:p>
        </p:txBody>
      </p:sp>
      <p:sp>
        <p:nvSpPr>
          <p:cNvPr id="34" name="Text 3"/>
          <p:cNvSpPr/>
          <p:nvPr>
            <p:ph type="body" sz="quarter" idx="21" hasCustomPrompt="1"/>
          </p:nvPr>
        </p:nvSpPr>
        <p:spPr>
          <a:xfrm>
            <a:off x="7863840" y="2011679"/>
            <a:ext cx="3520441" cy="3840481"/>
          </a:xfrm>
          <a:prstGeom prst="rect">
            <a:avLst/>
          </a:prstGeom>
        </p:spPr>
        <p:txBody>
          <a:bodyPr>
            <a:normAutofit fontScale="100000" lnSpcReduction="0"/>
          </a:bodyPr>
          <a:lstStyle>
            <a:lvl1pPr marL="0" indent="0">
              <a:spcBef>
                <a:spcPts val="400"/>
              </a:spcBef>
              <a:buSzTx/>
              <a:buFontTx/>
              <a:buNone/>
              <a:defRPr sz="1800"/>
            </a:lvl1pPr>
          </a:lstStyle>
          <a:p>
            <a:pPr/>
            <a:r>
              <a:t>Click to add text</a:t>
            </a:r>
          </a:p>
        </p:txBody>
      </p:sp>
      <p:sp>
        <p:nvSpPr>
          <p:cNvPr id="35" name="Text 3"/>
          <p:cNvSpPr txBox="1"/>
          <p:nvPr/>
        </p:nvSpPr>
        <p:spPr>
          <a:xfrm>
            <a:off x="548640" y="6469424"/>
            <a:ext cx="82296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4E5D75"/>
                </a:solidFill>
              </a:defRPr>
            </a:lvl1pPr>
          </a:lstStyle>
          <a:p>
            <a:pPr/>
            <a:r>
              <a:t>ARTD8105 · Idea evaluation defence · 3 minutes, then 2 minutes of questions</a:t>
            </a:r>
          </a:p>
        </p:txBody>
      </p:sp>
      <p:sp>
        <p:nvSpPr>
          <p:cNvPr id="36" name="幻灯片编号"/>
          <p:cNvSpPr txBox="1"/>
          <p:nvPr>
            <p:ph type="sldNum" sz="quarter" idx="2"/>
          </p:nvPr>
        </p:nvSpPr>
        <p:spPr>
          <a:xfrm>
            <a:off x="11380003" y="6400800"/>
            <a:ext cx="232878" cy="22851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标题文本"/>
          <p:cNvSpPr txBox="1"/>
          <p:nvPr>
            <p:ph type="title"/>
          </p:nvPr>
        </p:nvSpPr>
        <p:spPr>
          <a:xfrm>
            <a:off x="609600" y="92074"/>
            <a:ext cx="10972800" cy="15081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标题文本</a:t>
            </a:r>
          </a:p>
        </p:txBody>
      </p:sp>
      <p:sp>
        <p:nvSpPr>
          <p:cNvPr id="3" name="正文级别 1…"/>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正文级别 1</a:t>
            </a:r>
          </a:p>
          <a:p>
            <a:pPr lvl="1"/>
            <a:r>
              <a:t>正文级别 2</a:t>
            </a:r>
          </a:p>
          <a:p>
            <a:pPr lvl="2"/>
            <a:r>
              <a:t>正文级别 3</a:t>
            </a:r>
          </a:p>
          <a:p>
            <a:pPr lvl="3"/>
            <a:r>
              <a:t>正文级别 4</a:t>
            </a:r>
          </a:p>
          <a:p>
            <a:pPr lvl="4"/>
            <a:r>
              <a:t>正文级别 5</a:t>
            </a:r>
          </a:p>
        </p:txBody>
      </p:sp>
      <p:sp>
        <p:nvSpPr>
          <p:cNvPr id="4" name="幻灯片编号"/>
          <p:cNvSpPr txBox="1"/>
          <p:nvPr>
            <p:ph type="sldNum" sz="quarter" idx="2"/>
          </p:nvPr>
        </p:nvSpPr>
        <p:spPr>
          <a:xfrm>
            <a:off x="5892800" y="6356350"/>
            <a:ext cx="2844800" cy="368300"/>
          </a:xfrm>
          <a:prstGeom prst="rect">
            <a:avLst/>
          </a:prstGeom>
          <a:ln w="12700">
            <a:miter lim="400000"/>
          </a:ln>
        </p:spPr>
        <p:txBody>
          <a:bodyPr wrap="none" lIns="45719" rIns="45719">
            <a:spAutoFit/>
          </a:bodyPr>
          <a:lstStyle>
            <a:lvl1pPr algn="r">
              <a:defRPr sz="1000">
                <a:solidFill>
                  <a:srgbClr val="4E5D75"/>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chemeClr val="accent2"/>
          </a:solidFill>
          <a:uFillTx/>
          <a:latin typeface="Cambria"/>
          <a:ea typeface="Cambria"/>
          <a:cs typeface="Cambria"/>
          <a:sym typeface="Cambria"/>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chemeClr val="accent2"/>
          </a:solidFill>
          <a:uFillTx/>
          <a:latin typeface="Cambria"/>
          <a:ea typeface="Cambria"/>
          <a:cs typeface="Cambria"/>
          <a:sym typeface="Cambria"/>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chemeClr val="accent2"/>
          </a:solidFill>
          <a:uFillTx/>
          <a:latin typeface="Cambria"/>
          <a:ea typeface="Cambria"/>
          <a:cs typeface="Cambria"/>
          <a:sym typeface="Cambria"/>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chemeClr val="accent2"/>
          </a:solidFill>
          <a:uFillTx/>
          <a:latin typeface="Cambria"/>
          <a:ea typeface="Cambria"/>
          <a:cs typeface="Cambria"/>
          <a:sym typeface="Cambria"/>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chemeClr val="accent2"/>
          </a:solidFill>
          <a:uFillTx/>
          <a:latin typeface="Cambria"/>
          <a:ea typeface="Cambria"/>
          <a:cs typeface="Cambria"/>
          <a:sym typeface="Cambria"/>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chemeClr val="accent2"/>
          </a:solidFill>
          <a:uFillTx/>
          <a:latin typeface="Cambria"/>
          <a:ea typeface="Cambria"/>
          <a:cs typeface="Cambria"/>
          <a:sym typeface="Cambria"/>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chemeClr val="accent2"/>
          </a:solidFill>
          <a:uFillTx/>
          <a:latin typeface="Cambria"/>
          <a:ea typeface="Cambria"/>
          <a:cs typeface="Cambria"/>
          <a:sym typeface="Cambria"/>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chemeClr val="accent2"/>
          </a:solidFill>
          <a:uFillTx/>
          <a:latin typeface="Cambria"/>
          <a:ea typeface="Cambria"/>
          <a:cs typeface="Cambria"/>
          <a:sym typeface="Cambria"/>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chemeClr val="accent2"/>
          </a:solidFill>
          <a:uFillTx/>
          <a:latin typeface="Cambria"/>
          <a:ea typeface="Cambria"/>
          <a:cs typeface="Cambria"/>
          <a:sym typeface="Cambria"/>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chemeClr val="accent2"/>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chemeClr val="accent2"/>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chemeClr val="accent2"/>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chemeClr val="accent2"/>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chemeClr val="accent2"/>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chemeClr val="accent2"/>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chemeClr val="accent2"/>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chemeClr val="accent2"/>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chemeClr val="accent2"/>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 name="Text 1"/>
          <p:cNvSpPr txBox="1"/>
          <p:nvPr>
            <p:ph type="title"/>
          </p:nvPr>
        </p:nvSpPr>
        <p:spPr>
          <a:xfrm>
            <a:off x="731519" y="2011679"/>
            <a:ext cx="10698482" cy="1463041"/>
          </a:xfrm>
          <a:prstGeom prst="rect">
            <a:avLst/>
          </a:prstGeom>
        </p:spPr>
        <p:txBody>
          <a:bodyPr lIns="0" tIns="0" rIns="0" bIns="0" anchor="b"/>
          <a:lstStyle>
            <a:lvl1pPr>
              <a:defRPr>
                <a:latin typeface="+mn-lt"/>
                <a:ea typeface="+mn-ea"/>
                <a:cs typeface="+mn-cs"/>
                <a:sym typeface="Helvetica"/>
              </a:defRPr>
            </a:lvl1pPr>
          </a:lstStyle>
          <a:p>
            <a:pPr>
              <a:defRPr>
                <a:latin typeface="Cambria"/>
                <a:ea typeface="Cambria"/>
                <a:cs typeface="Cambria"/>
                <a:sym typeface="Cambria"/>
              </a:defRPr>
            </a:pPr>
            <a:r>
              <a:rPr>
                <a:latin typeface="+mn-lt"/>
                <a:ea typeface="+mn-ea"/>
                <a:cs typeface="+mn-cs"/>
                <a:sym typeface="Helvetica"/>
              </a:rPr>
              <a:t>The continuous body that delay takes away</a:t>
            </a:r>
          </a:p>
        </p:txBody>
      </p:sp>
      <p:sp>
        <p:nvSpPr>
          <p:cNvPr id="46" name="Text 1"/>
          <p:cNvSpPr txBox="1"/>
          <p:nvPr>
            <p:ph type="body" sz="half" idx="1"/>
          </p:nvPr>
        </p:nvSpPr>
        <p:spPr>
          <a:xfrm>
            <a:off x="731519" y="3703320"/>
            <a:ext cx="10698482" cy="1737361"/>
          </a:xfrm>
          <a:prstGeom prst="rect">
            <a:avLst/>
          </a:prstGeom>
        </p:spPr>
        <p:txBody>
          <a:bodyPr lIns="0" tIns="0" rIns="0" bIns="0"/>
          <a:lstStyle/>
          <a:p>
            <a:pPr/>
            <a:r>
              <a:t>zhaijiayu</a:t>
            </a:r>
          </a:p>
          <a:p>
            <a:pPr/>
            <a:r>
              <a:t>Individual</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 name="Text 0"/>
          <p:cNvSpPr txBox="1"/>
          <p:nvPr>
            <p:ph type="title"/>
          </p:nvPr>
        </p:nvSpPr>
        <p:spPr>
          <a:xfrm>
            <a:off x="548639" y="320040"/>
            <a:ext cx="8778242" cy="777241"/>
          </a:xfrm>
          <a:prstGeom prst="rect">
            <a:avLst/>
          </a:prstGeom>
        </p:spPr>
        <p:txBody>
          <a:bodyPr lIns="0" tIns="0" rIns="0" bIns="0" anchor="ctr"/>
          <a:lstStyle/>
          <a:p>
            <a:pPr/>
            <a:r>
              <a:t>The problem</a:t>
            </a:r>
          </a:p>
        </p:txBody>
      </p:sp>
      <p:sp>
        <p:nvSpPr>
          <p:cNvPr id="51" name="Text 2"/>
          <p:cNvSpPr txBox="1"/>
          <p:nvPr>
            <p:ph type="body" sz="half" idx="1"/>
          </p:nvPr>
        </p:nvSpPr>
        <p:spPr>
          <a:xfrm>
            <a:off x="548640" y="1371599"/>
            <a:ext cx="6766560" cy="4663442"/>
          </a:xfrm>
          <a:prstGeom prst="rect">
            <a:avLst/>
          </a:prstGeom>
        </p:spPr>
        <p:txBody>
          <a:bodyPr lIns="635" tIns="635" rIns="635" bIns="635"/>
          <a:lstStyle/>
          <a:p>
            <a:pPr defTabSz="630936">
              <a:spcBef>
                <a:spcPts val="300"/>
              </a:spcBef>
              <a:defRPr sz="1518"/>
            </a:pPr>
            <a:r>
              <a:rPr>
                <a:latin typeface="+mn-lt"/>
                <a:ea typeface="+mn-ea"/>
                <a:cs typeface="+mn-cs"/>
                <a:sym typeface="Helvetica"/>
              </a:rPr>
              <a:t>A photograph has no time axis.</a:t>
            </a:r>
            <a:endParaRPr>
              <a:latin typeface="+mn-lt"/>
              <a:ea typeface="+mn-ea"/>
              <a:cs typeface="+mn-cs"/>
              <a:sym typeface="Helvetica"/>
            </a:endParaRPr>
          </a:p>
          <a:p>
            <a:pPr defTabSz="630936">
              <a:spcBef>
                <a:spcPts val="300"/>
              </a:spcBef>
              <a:defRPr sz="1518"/>
            </a:pPr>
            <a:r>
              <a:rPr>
                <a:latin typeface="+mn-lt"/>
                <a:ea typeface="+mn-ea"/>
                <a:cs typeface="+mn-cs"/>
                <a:sym typeface="Helvetica"/>
              </a:rPr>
              <a:t>The same few seconds: one image folds motion into brightness, the other into position.</a:t>
            </a:r>
            <a:endParaRPr>
              <a:latin typeface="+mn-lt"/>
              <a:ea typeface="+mn-ea"/>
              <a:cs typeface="+mn-cs"/>
              <a:sym typeface="Helvetica"/>
            </a:endParaRPr>
          </a:p>
          <a:p>
            <a:pPr defTabSz="630936">
              <a:spcBef>
                <a:spcPts val="300"/>
              </a:spcBef>
              <a:defRPr sz="1518"/>
            </a:pPr>
            <a:r>
              <a:rPr>
                <a:latin typeface="+mn-lt"/>
                <a:ea typeface="+mn-ea"/>
                <a:cs typeface="+mn-cs"/>
                <a:sym typeface="Helvetica"/>
              </a:rPr>
              <a:t>The continuous body missing between the two is what delay takes away.</a:t>
            </a:r>
            <a:endParaRPr>
              <a:latin typeface="+mn-lt"/>
              <a:ea typeface="+mn-ea"/>
              <a:cs typeface="+mn-cs"/>
              <a:sym typeface="Helvetica"/>
            </a:endParaRPr>
          </a:p>
          <a:p>
            <a:pPr defTabSz="630936">
              <a:spcBef>
                <a:spcPts val="300"/>
              </a:spcBef>
              <a:defRPr sz="1518"/>
            </a:pPr>
            <a:r>
              <a:rPr>
                <a:latin typeface="+mn-lt"/>
                <a:ea typeface="+mn-ea"/>
                <a:cs typeface="+mn-cs"/>
                <a:sym typeface="Helvetica"/>
              </a:rPr>
              <a:t>(This work is about delay. It asks how continuous time becomes a still photograph.</a:t>
            </a:r>
            <a:endParaRPr>
              <a:latin typeface="+mn-lt"/>
              <a:ea typeface="+mn-ea"/>
              <a:cs typeface="+mn-cs"/>
              <a:sym typeface="Helvetica"/>
            </a:endParaRPr>
          </a:p>
          <a:p>
            <a:pPr defTabSz="630936">
              <a:spcBef>
                <a:spcPts val="300"/>
              </a:spcBef>
              <a:defRPr sz="1518"/>
            </a:pPr>
            <a:r>
              <a:rPr>
                <a:latin typeface="+mn-lt"/>
                <a:ea typeface="+mn-ea"/>
                <a:cs typeface="+mn-cs"/>
                <a:sym typeface="Helvetica"/>
              </a:rPr>
              <a:t>I will film a short panorama that includes people, rain, and moving plants, and turn it into two still photographs by two different ways of handling time.</a:t>
            </a:r>
            <a:endParaRPr>
              <a:latin typeface="+mn-lt"/>
              <a:ea typeface="+mn-ea"/>
              <a:cs typeface="+mn-cs"/>
              <a:sym typeface="Helvetica"/>
            </a:endParaRPr>
          </a:p>
          <a:p>
            <a:pPr defTabSz="630936">
              <a:spcBef>
                <a:spcPts val="300"/>
              </a:spcBef>
              <a:defRPr sz="1518"/>
            </a:pPr>
            <a:r>
              <a:rPr>
                <a:latin typeface="+mn-lt"/>
                <a:ea typeface="+mn-ea"/>
                <a:cs typeface="+mn-cs"/>
                <a:sym typeface="Helvetica"/>
              </a:rPr>
              <a:t>The first integrates time and accumulates motion as a continuous white trace. It keeps continuity and loses the body's form and temporal order. The second samples time and places the moving subject from separate moments in one frame. It keeps the body and the discrete instants and loses the continuous process between them.</a:t>
            </a:r>
            <a:endParaRPr>
              <a:latin typeface="+mn-lt"/>
              <a:ea typeface="+mn-ea"/>
              <a:cs typeface="+mn-cs"/>
              <a:sym typeface="Helvetica"/>
            </a:endParaRPr>
          </a:p>
          <a:p>
            <a:pPr defTabSz="630936">
              <a:spcBef>
                <a:spcPts val="300"/>
              </a:spcBef>
              <a:defRPr sz="1518"/>
            </a:pPr>
            <a:r>
              <a:rPr>
                <a:latin typeface="+mn-lt"/>
                <a:ea typeface="+mn-ea"/>
                <a:cs typeface="+mn-cs"/>
                <a:sym typeface="Helvetica"/>
              </a:rPr>
              <a:t>Placed together, the two photographs compare a delay inside the exposure with a delay after capture, and show the different kinds of time that a still loses when it records a continuous event.</a:t>
            </a:r>
            <a:endParaRPr>
              <a:latin typeface="+mn-lt"/>
              <a:ea typeface="+mn-ea"/>
              <a:cs typeface="+mn-cs"/>
              <a:sym typeface="Helvetica"/>
            </a:endParaRPr>
          </a:p>
          <a:p>
            <a:pPr defTabSz="630936">
              <a:spcBef>
                <a:spcPts val="300"/>
              </a:spcBef>
              <a:defRPr sz="1518"/>
            </a:pPr>
            <a:r>
              <a:rPr>
                <a:latin typeface="+mn-lt"/>
                <a:ea typeface="+mn-ea"/>
                <a:cs typeface="+mn-cs"/>
                <a:sym typeface="Helvetica"/>
              </a:rPr>
              <a:t>The question is: when delay moves from exposure to computation, what changes in our relation to the time that was recorded?)</a:t>
            </a:r>
          </a:p>
        </p:txBody>
      </p:sp>
      <p:sp>
        <p:nvSpPr>
          <p:cNvPr id="52" name="side label"/>
          <p:cNvSpPr txBox="1"/>
          <p:nvPr/>
        </p:nvSpPr>
        <p:spPr>
          <a:xfrm>
            <a:off x="7863840" y="1581149"/>
            <a:ext cx="352044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latin typeface="Cambria"/>
                <a:ea typeface="Cambria"/>
                <a:cs typeface="Cambria"/>
                <a:sym typeface="Cambria"/>
              </a:defRPr>
            </a:lvl1pPr>
          </a:lstStyle>
          <a:p>
            <a:pPr/>
            <a:r>
              <a:t>New or old?</a:t>
            </a:r>
          </a:p>
        </p:txBody>
      </p:sp>
      <p:sp>
        <p:nvSpPr>
          <p:cNvPr id="53" name="Text 3"/>
          <p:cNvSpPr/>
          <p:nvPr>
            <p:ph type="body" idx="21"/>
          </p:nvPr>
        </p:nvSpPr>
        <p:spPr>
          <a:prstGeom prst="rect">
            <a:avLst/>
          </a:prstGeom>
          <a:extLst>
            <a:ext uri="{C572A759-6A51-4108-AA02-DFA0A04FC94B}">
              <ma14:wrappingTextBoxFlag xmlns:ma14="http://schemas.microsoft.com/office/mac/drawingml/2011/main" val="1"/>
            </a:ext>
          </a:extLst>
        </p:spPr>
        <p:txBody>
          <a:bodyPr lIns="635" tIns="635" rIns="635" bIns="635"/>
          <a:lstStyle/>
          <a:p>
            <a:pPr/>
            <a:r>
              <a:rPr>
                <a:latin typeface="+mn-lt"/>
                <a:ea typeface="+mn-ea"/>
                <a:cs typeface="+mn-cs"/>
                <a:sym typeface="Helvetica"/>
              </a:rPr>
              <a:t>Each form on its own has been done.</a:t>
            </a:r>
            <a:endParaRPr>
              <a:latin typeface="+mn-lt"/>
              <a:ea typeface="+mn-ea"/>
              <a:cs typeface="+mn-cs"/>
              <a:sym typeface="Helvetica"/>
            </a:endParaRPr>
          </a:p>
          <a:p>
            <a:pPr/>
            <a:r>
              <a:rPr>
                <a:latin typeface="+mn-lt"/>
                <a:ea typeface="+mn-ea"/>
                <a:cs typeface="+mn-cs"/>
                <a:sym typeface="Helvetica"/>
              </a:rPr>
              <a:t>The pair, as a conceptual comparison, has not.</a:t>
            </a:r>
          </a:p>
        </p:txBody>
      </p:sp>
      <p:sp>
        <p:nvSpPr>
          <p:cNvPr id="54" name="Slide Number Placeholder 0"/>
          <p:cNvSpPr txBox="1"/>
          <p:nvPr>
            <p:ph type="sldNum" sz="quarter" idx="4294967295"/>
          </p:nvPr>
        </p:nvSpPr>
        <p:spPr>
          <a:xfrm>
            <a:off x="11444372" y="640080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8" name="Text 0"/>
          <p:cNvSpPr txBox="1"/>
          <p:nvPr>
            <p:ph type="title"/>
          </p:nvPr>
        </p:nvSpPr>
        <p:spPr>
          <a:xfrm>
            <a:off x="548639" y="320040"/>
            <a:ext cx="8778242" cy="777241"/>
          </a:xfrm>
          <a:prstGeom prst="rect">
            <a:avLst/>
          </a:prstGeom>
        </p:spPr>
        <p:txBody>
          <a:bodyPr lIns="0" tIns="0" rIns="0" bIns="0" anchor="ctr"/>
          <a:lstStyle/>
          <a:p>
            <a:pPr/>
            <a:r>
              <a:t>The gap</a:t>
            </a:r>
          </a:p>
        </p:txBody>
      </p:sp>
      <p:sp>
        <p:nvSpPr>
          <p:cNvPr id="59" name="Text 2"/>
          <p:cNvSpPr txBox="1"/>
          <p:nvPr>
            <p:ph type="body" sz="half" idx="1"/>
          </p:nvPr>
        </p:nvSpPr>
        <p:spPr>
          <a:xfrm>
            <a:off x="548640" y="1371599"/>
            <a:ext cx="6766560" cy="4663442"/>
          </a:xfrm>
          <a:prstGeom prst="rect">
            <a:avLst/>
          </a:prstGeom>
        </p:spPr>
        <p:txBody>
          <a:bodyPr lIns="635" tIns="635" rIns="635" bIns="635"/>
          <a:lstStyle/>
          <a:p>
            <a:pPr marL="342900" indent="-342900">
              <a:buSzPct val="100000"/>
              <a:buFont typeface="Arial"/>
              <a:buChar char="•"/>
            </a:pPr>
            <a:r>
              <a:t>Marey: an update of photographic technique, not this pair.</a:t>
            </a:r>
          </a:p>
          <a:p>
            <a:pPr marL="342900" indent="-342900">
              <a:buSzPct val="100000"/>
              <a:buFont typeface="Arial"/>
              <a:buChar char="•"/>
            </a:pPr>
            <a:r>
              <a:t>Hiroshi Sugimoto: only the integration end.</a:t>
            </a:r>
          </a:p>
          <a:p>
            <a:pPr marL="342900" indent="-342900">
              <a:buSzPct val="100000"/>
              <a:buFont typeface="Arial"/>
              <a:buChar char="•"/>
            </a:pPr>
            <a:r>
              <a:t>Pelle Cass: only the sampling end.</a:t>
            </a:r>
          </a:p>
        </p:txBody>
      </p:sp>
      <p:sp>
        <p:nvSpPr>
          <p:cNvPr id="60" name="side label"/>
          <p:cNvSpPr txBox="1"/>
          <p:nvPr/>
        </p:nvSpPr>
        <p:spPr>
          <a:xfrm>
            <a:off x="7863840" y="1581149"/>
            <a:ext cx="352044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latin typeface="Cambria"/>
                <a:ea typeface="Cambria"/>
                <a:cs typeface="Cambria"/>
                <a:sym typeface="Cambria"/>
              </a:defRPr>
            </a:lvl1pPr>
          </a:lstStyle>
          <a:p>
            <a:pPr/>
            <a:r>
              <a:t>The gap, and what changed</a:t>
            </a:r>
          </a:p>
        </p:txBody>
      </p:sp>
      <p:sp>
        <p:nvSpPr>
          <p:cNvPr id="61" name="Text 3"/>
          <p:cNvSpPr/>
          <p:nvPr>
            <p:ph type="body" idx="21"/>
          </p:nvPr>
        </p:nvSpPr>
        <p:spPr>
          <a:prstGeom prst="rect">
            <a:avLst/>
          </a:prstGeom>
          <a:extLst>
            <a:ext uri="{C572A759-6A51-4108-AA02-DFA0A04FC94B}">
              <ma14:wrappingTextBoxFlag xmlns:ma14="http://schemas.microsoft.com/office/mac/drawingml/2011/main" val="1"/>
            </a:ext>
          </a:extLst>
        </p:spPr>
        <p:txBody>
          <a:bodyPr lIns="635" tIns="635" rIns="635" bIns="635"/>
          <a:lstStyle>
            <a:lvl1pPr>
              <a:defRPr b="1">
                <a:latin typeface="+mn-lt"/>
                <a:ea typeface="+mn-ea"/>
                <a:cs typeface="+mn-cs"/>
                <a:sym typeface="Helvetica"/>
              </a:defRPr>
            </a:lvl1pPr>
          </a:lstStyle>
          <a:p>
            <a:pPr>
              <a:defRPr>
                <a:latin typeface="+mj-lt"/>
                <a:ea typeface="+mj-ea"/>
                <a:cs typeface="+mj-cs"/>
                <a:sym typeface="Calibri"/>
              </a:defRPr>
            </a:pPr>
            <a:r>
              <a:rPr>
                <a:latin typeface="+mn-lt"/>
                <a:ea typeface="+mn-ea"/>
                <a:cs typeface="+mn-cs"/>
                <a:sym typeface="Helvetica"/>
              </a:rPr>
              <a:t>Each end has been done on its own. The two photographs of the same stretch of time have not.</a:t>
            </a:r>
          </a:p>
        </p:txBody>
      </p:sp>
      <p:sp>
        <p:nvSpPr>
          <p:cNvPr id="62" name="Slide Number Placeholder 0"/>
          <p:cNvSpPr txBox="1"/>
          <p:nvPr>
            <p:ph type="sldNum" sz="quarter" idx="4294967295"/>
          </p:nvPr>
        </p:nvSpPr>
        <p:spPr>
          <a:xfrm>
            <a:off x="11444372" y="640080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6" name="Text 0"/>
          <p:cNvSpPr txBox="1"/>
          <p:nvPr>
            <p:ph type="title"/>
          </p:nvPr>
        </p:nvSpPr>
        <p:spPr>
          <a:xfrm>
            <a:off x="548639" y="320040"/>
            <a:ext cx="8778242" cy="777241"/>
          </a:xfrm>
          <a:prstGeom prst="rect">
            <a:avLst/>
          </a:prstGeom>
        </p:spPr>
        <p:txBody>
          <a:bodyPr lIns="0" tIns="0" rIns="0" bIns="0" anchor="ctr"/>
          <a:lstStyle/>
          <a:p>
            <a:pPr/>
            <a:r>
              <a:t>The contribution</a:t>
            </a:r>
          </a:p>
        </p:txBody>
      </p:sp>
      <p:sp>
        <p:nvSpPr>
          <p:cNvPr id="67" name="Text 2"/>
          <p:cNvSpPr txBox="1"/>
          <p:nvPr>
            <p:ph type="body" sz="half" idx="1"/>
          </p:nvPr>
        </p:nvSpPr>
        <p:spPr>
          <a:xfrm>
            <a:off x="548640" y="1371599"/>
            <a:ext cx="6766560" cy="4663442"/>
          </a:xfrm>
          <a:prstGeom prst="rect">
            <a:avLst/>
          </a:prstGeom>
        </p:spPr>
        <p:txBody>
          <a:bodyPr lIns="635" tIns="635" rIns="635" bIns="635"/>
          <a:lstStyle/>
          <a:p>
            <a:pPr>
              <a:defRPr b="1"/>
            </a:pPr>
            <a:r>
              <a:rPr>
                <a:latin typeface="+mn-lt"/>
                <a:ea typeface="+mn-ea"/>
                <a:cs typeface="+mn-cs"/>
                <a:sym typeface="Helvetica"/>
              </a:rPr>
              <a:t>Intermediate-level concept</a:t>
            </a:r>
            <a:endParaRPr>
              <a:latin typeface="+mn-lt"/>
              <a:ea typeface="+mn-ea"/>
              <a:cs typeface="+mn-cs"/>
              <a:sym typeface="Helvetica"/>
            </a:endParaRPr>
          </a:p>
          <a:p>
            <a:pPr>
              <a:defRPr b="1"/>
            </a:pPr>
            <a:r>
              <a:rPr>
                <a:latin typeface="+mn-lt"/>
                <a:ea typeface="+mn-ea"/>
                <a:cs typeface="+mn-cs"/>
                <a:sym typeface="Helvetica"/>
              </a:rPr>
              <a:t>The concept: the continuous body that delay takes away. The nuance holds only in these two photographs.</a:t>
            </a:r>
            <a:endParaRPr>
              <a:latin typeface="+mn-lt"/>
              <a:ea typeface="+mn-ea"/>
              <a:cs typeface="+mn-cs"/>
              <a:sym typeface="Helvetica"/>
            </a:endParaRPr>
          </a:p>
          <a:p>
            <a:pPr>
              <a:defRPr b="1"/>
            </a:pPr>
            <a:r>
              <a:rPr>
                <a:latin typeface="+mn-lt"/>
                <a:ea typeface="+mn-ea"/>
                <a:cs typeface="+mn-cs"/>
                <a:sym typeface="Helvetica"/>
              </a:rPr>
              <a:t>Integration loses the body and its direction. The white line keeps a continuity without gaps.</a:t>
            </a:r>
            <a:endParaRPr>
              <a:latin typeface="+mn-lt"/>
              <a:ea typeface="+mn-ea"/>
              <a:cs typeface="+mn-cs"/>
              <a:sym typeface="Helvetica"/>
            </a:endParaRPr>
          </a:p>
          <a:p>
            <a:pPr>
              <a:defRPr b="1"/>
            </a:pPr>
            <a:r>
              <a:rPr>
                <a:latin typeface="+mn-lt"/>
                <a:ea typeface="+mn-ea"/>
                <a:cs typeface="+mn-cs"/>
                <a:sym typeface="Helvetica"/>
              </a:rPr>
              <a:t>Sampling loses the interval. The repeated bodies keep the body; the blank is deleted time.</a:t>
            </a:r>
          </a:p>
        </p:txBody>
      </p:sp>
      <p:sp>
        <p:nvSpPr>
          <p:cNvPr id="68" name="side label"/>
          <p:cNvSpPr txBox="1"/>
          <p:nvPr/>
        </p:nvSpPr>
        <p:spPr>
          <a:xfrm>
            <a:off x="7863840" y="1581149"/>
            <a:ext cx="352044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latin typeface="Cambria"/>
                <a:ea typeface="Cambria"/>
                <a:cs typeface="Cambria"/>
                <a:sym typeface="Cambria"/>
              </a:defRPr>
            </a:lvl1pPr>
          </a:lstStyle>
          <a:p>
            <a:pPr/>
            <a:r>
              <a:t>Necessity test</a:t>
            </a:r>
          </a:p>
        </p:txBody>
      </p:sp>
      <p:sp>
        <p:nvSpPr>
          <p:cNvPr id="69" name="Text 3"/>
          <p:cNvSpPr/>
          <p:nvPr>
            <p:ph type="body" idx="21"/>
          </p:nvPr>
        </p:nvSpPr>
        <p:spPr>
          <a:prstGeom prst="rect">
            <a:avLst/>
          </a:prstGeom>
          <a:extLst>
            <a:ext uri="{C572A759-6A51-4108-AA02-DFA0A04FC94B}">
              <ma14:wrappingTextBoxFlag xmlns:ma14="http://schemas.microsoft.com/office/mac/drawingml/2011/main" val="1"/>
            </a:ext>
          </a:extLst>
        </p:spPr>
        <p:txBody>
          <a:bodyPr lIns="635" tIns="635" rIns="635" bIns="635"/>
          <a:lstStyle/>
          <a:p>
            <a:pPr/>
            <a:r>
              <a:rPr>
                <a:latin typeface="+mn-lt"/>
                <a:ea typeface="+mn-ea"/>
                <a:cs typeface="+mn-cs"/>
                <a:sym typeface="Helvetica"/>
              </a:rPr>
              <a:t>Without the photographs: it still holds in theory, but it cannot be shown.</a:t>
            </a:r>
            <a:endParaRPr>
              <a:latin typeface="+mn-lt"/>
              <a:ea typeface="+mn-ea"/>
              <a:cs typeface="+mn-cs"/>
              <a:sym typeface="Helvetica"/>
            </a:endParaRPr>
          </a:p>
          <a:p>
            <a:pPr/>
            <a:r>
              <a:rPr>
                <a:latin typeface="+mn-lt"/>
                <a:ea typeface="+mn-ea"/>
                <a:cs typeface="+mn-cs"/>
                <a:sym typeface="Helvetica"/>
              </a:rPr>
              <a:t>Outside photography: it has value only in this field.</a:t>
            </a:r>
          </a:p>
        </p:txBody>
      </p:sp>
      <p:sp>
        <p:nvSpPr>
          <p:cNvPr id="70" name="Slide Number Placeholder 0"/>
          <p:cNvSpPr txBox="1"/>
          <p:nvPr>
            <p:ph type="sldNum" sz="quarter" idx="4294967295"/>
          </p:nvPr>
        </p:nvSpPr>
        <p:spPr>
          <a:xfrm>
            <a:off x="11444372" y="640080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4" name="Text 0"/>
          <p:cNvSpPr txBox="1"/>
          <p:nvPr>
            <p:ph type="title"/>
          </p:nvPr>
        </p:nvSpPr>
        <p:spPr>
          <a:xfrm>
            <a:off x="548639" y="320040"/>
            <a:ext cx="8778242" cy="777241"/>
          </a:xfrm>
          <a:prstGeom prst="rect">
            <a:avLst/>
          </a:prstGeom>
        </p:spPr>
        <p:txBody>
          <a:bodyPr lIns="0" tIns="0" rIns="0" bIns="0" anchor="ctr"/>
          <a:lstStyle/>
          <a:p>
            <a:pPr/>
            <a:r>
              <a:t>Where it goes, and what I will make</a:t>
            </a:r>
          </a:p>
        </p:txBody>
      </p:sp>
      <p:sp>
        <p:nvSpPr>
          <p:cNvPr id="75" name="Text 2"/>
          <p:cNvSpPr txBox="1"/>
          <p:nvPr>
            <p:ph type="body" sz="half" idx="1"/>
          </p:nvPr>
        </p:nvSpPr>
        <p:spPr>
          <a:xfrm>
            <a:off x="548640" y="1371599"/>
            <a:ext cx="6766560" cy="4663442"/>
          </a:xfrm>
          <a:prstGeom prst="rect">
            <a:avLst/>
          </a:prstGeom>
        </p:spPr>
        <p:txBody>
          <a:bodyPr lIns="635" tIns="635" rIns="635" bIns="635"/>
          <a:lstStyle/>
          <a:p>
            <a:pPr>
              <a:defRPr b="1"/>
            </a:pPr>
            <a:r>
              <a:t>DIS 2027 · Papers · Full paper</a:t>
            </a:r>
          </a:p>
          <a:p>
            <a:pPr>
              <a:defRPr b="1"/>
            </a:pPr>
            <a:r>
              <a:t>Abstract 11 January · Full paper 18 January AoE</a:t>
            </a:r>
          </a:p>
          <a:p>
            <a:pPr>
              <a:defRPr b="1"/>
            </a:pPr>
          </a:p>
          <a:p>
            <a:pPr>
              <a:defRPr b="1"/>
            </a:pPr>
            <a:r>
              <a:t>EVA London 2027 · Papers · 11 January</a:t>
            </a:r>
          </a:p>
        </p:txBody>
      </p:sp>
      <p:sp>
        <p:nvSpPr>
          <p:cNvPr id="76" name="side label"/>
          <p:cNvSpPr txBox="1"/>
          <p:nvPr/>
        </p:nvSpPr>
        <p:spPr>
          <a:xfrm>
            <a:off x="7863840" y="1581149"/>
            <a:ext cx="352044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latin typeface="Cambria"/>
                <a:ea typeface="Cambria"/>
                <a:cs typeface="Cambria"/>
                <a:sym typeface="Cambria"/>
              </a:defRPr>
            </a:lvl1pPr>
          </a:lstStyle>
          <a:p>
            <a:pPr/>
            <a:r>
              <a:t>By 25 November</a:t>
            </a:r>
          </a:p>
        </p:txBody>
      </p:sp>
      <p:sp>
        <p:nvSpPr>
          <p:cNvPr id="77" name="Text 3"/>
          <p:cNvSpPr/>
          <p:nvPr>
            <p:ph type="body" idx="21"/>
          </p:nvPr>
        </p:nvSpPr>
        <p:spPr>
          <a:prstGeom prst="rect">
            <a:avLst/>
          </a:prstGeom>
          <a:extLst>
            <a:ext uri="{C572A759-6A51-4108-AA02-DFA0A04FC94B}">
              <ma14:wrappingTextBoxFlag xmlns:ma14="http://schemas.microsoft.com/office/mac/drawingml/2011/main" val="1"/>
            </a:ext>
          </a:extLst>
        </p:spPr>
        <p:txBody>
          <a:bodyPr lIns="635" tIns="635" rIns="635" bIns="635"/>
          <a:lstStyle/>
          <a:p>
            <a:pPr/>
            <a:r>
              <a:t>Photographs of different scenes. Each set is two ordinary prints.</a:t>
            </a:r>
          </a:p>
          <a:p>
            <a:pPr/>
            <a:r>
              <a:t>A panoramic video of the scene.</a:t>
            </a:r>
          </a:p>
        </p:txBody>
      </p:sp>
      <p:sp>
        <p:nvSpPr>
          <p:cNvPr id="78" name="Slide Number Placeholder 0"/>
          <p:cNvSpPr txBox="1"/>
          <p:nvPr>
            <p:ph type="sldNum" sz="quarter" idx="4294967295"/>
          </p:nvPr>
        </p:nvSpPr>
        <p:spPr>
          <a:xfrm>
            <a:off x="11444372" y="640080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ARTD8105 Defence">
  <a:themeElements>
    <a:clrScheme name="ARTD8105 Defence">
      <a:dk1>
        <a:srgbClr val="16213E"/>
      </a:dk1>
      <a:lt1>
        <a:srgbClr val="16213E"/>
      </a:lt1>
      <a:dk2>
        <a:srgbClr val="A7A7A7"/>
      </a:dk2>
      <a:lt2>
        <a:srgbClr val="535353"/>
      </a:lt2>
      <a:accent1>
        <a:srgbClr val="E94F37"/>
      </a:accent1>
      <a:accent2>
        <a:srgbClr val="16213E"/>
      </a:accent2>
      <a:accent3>
        <a:srgbClr val="7A8CA3"/>
      </a:accent3>
      <a:accent4>
        <a:srgbClr val="E2E4E8"/>
      </a:accent4>
      <a:accent5>
        <a:srgbClr val="2F6F8F"/>
      </a:accent5>
      <a:accent6>
        <a:srgbClr val="F2B134"/>
      </a:accent6>
      <a:hlink>
        <a:srgbClr val="0000FF"/>
      </a:hlink>
      <a:folHlink>
        <a:srgbClr val="FF00FF"/>
      </a:folHlink>
    </a:clrScheme>
    <a:fontScheme name="ARTD8105 Defence">
      <a:majorFont>
        <a:latin typeface="Calibri"/>
        <a:ea typeface="Calibri"/>
        <a:cs typeface="Calibri"/>
      </a:majorFont>
      <a:minorFont>
        <a:latin typeface="Helvetica"/>
        <a:ea typeface="Helvetica"/>
        <a:cs typeface="Helvetica"/>
      </a:minorFont>
    </a:fontScheme>
    <a:fmtScheme name="ARTD8105 Defen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chemeClr val="accent2"/>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chemeClr val="accent2"/>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ARTD8105 Defence">
  <a:themeElements>
    <a:clrScheme name="ARTD8105 Defence">
      <a:dk1>
        <a:srgbClr val="16213E"/>
      </a:dk1>
      <a:lt1>
        <a:srgbClr val="3E3828"/>
      </a:lt1>
      <a:dk2>
        <a:srgbClr val="A7A7A7"/>
      </a:dk2>
      <a:lt2>
        <a:srgbClr val="535353"/>
      </a:lt2>
      <a:accent1>
        <a:srgbClr val="E94F37"/>
      </a:accent1>
      <a:accent2>
        <a:srgbClr val="16213E"/>
      </a:accent2>
      <a:accent3>
        <a:srgbClr val="7A8CA3"/>
      </a:accent3>
      <a:accent4>
        <a:srgbClr val="E2E4E8"/>
      </a:accent4>
      <a:accent5>
        <a:srgbClr val="2F6F8F"/>
      </a:accent5>
      <a:accent6>
        <a:srgbClr val="F2B134"/>
      </a:accent6>
      <a:hlink>
        <a:srgbClr val="0000FF"/>
      </a:hlink>
      <a:folHlink>
        <a:srgbClr val="FF00FF"/>
      </a:folHlink>
    </a:clrScheme>
    <a:fontScheme name="ARTD8105 Defence">
      <a:majorFont>
        <a:latin typeface="Calibri"/>
        <a:ea typeface="Calibri"/>
        <a:cs typeface="Calibri"/>
      </a:majorFont>
      <a:minorFont>
        <a:latin typeface="Helvetica"/>
        <a:ea typeface="Helvetica"/>
        <a:cs typeface="Helvetica"/>
      </a:minorFont>
    </a:fontScheme>
    <a:fmtScheme name="ARTD8105 Defen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chemeClr val="accent2"/>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chemeClr val="accent2"/>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