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48" r:id="rId1"/>
  </p:sldMasterIdLst>
  <p:notesMasterIdLst>
    <p:notesMasterId r:id="rId4"/>
  </p:notesMasterIdLst>
  <p:sldIdLst>
    <p:sldId id="256" r:id="rId3"/>
    <p:sldId id="257" r:id="rId5"/>
    <p:sldId id="258" r:id="rId6"/>
    <p:sldId id="259" r:id="rId7"/>
    <p:sldId id="260" r:id="rId8"/>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9" Type="http://schemas.openxmlformats.org/officeDocument/2006/relationships/presProps" Target="presProps.xml"/><Relationship Id="rId8" Type="http://schemas.openxmlformats.org/officeDocument/2006/relationships/slide" Target="slides/slide5.xml"/><Relationship Id="rId7" Type="http://schemas.openxmlformats.org/officeDocument/2006/relationships/slide" Target="slides/slide4.xml"/><Relationship Id="rId6" Type="http://schemas.openxmlformats.org/officeDocument/2006/relationships/slide" Target="slides/slide3.xml"/><Relationship Id="rId5" Type="http://schemas.openxmlformats.org/officeDocument/2006/relationships/slide" Target="slides/slide2.xml"/><Relationship Id="rId4" Type="http://schemas.openxmlformats.org/officeDocument/2006/relationships/notesMaster" Target="notesMasters/notesMaster1.xml"/><Relationship Id="rId3" Type="http://schemas.openxmlformats.org/officeDocument/2006/relationships/slide" Target="slides/slide1.xml"/><Relationship Id="rId2" Type="http://schemas.openxmlformats.org/officeDocument/2006/relationships/theme" Target="theme/theme1.xml"/><Relationship Id="rId11" Type="http://schemas.openxmlformats.org/officeDocument/2006/relationships/tableStyles" Target="tableStyles.xml"/><Relationship Id="rId10" Type="http://schemas.openxmlformats.org/officeDocument/2006/relationships/viewProps" Target="viewProps.xml"/><Relationship Id="rId1" Type="http://schemas.openxmlformats.org/officeDocument/2006/relationships/slideMaster" Target="slideMasters/slide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10 seconds.
I am zhaijiayu. My project is titled A Photograph of Coexisting Memories: Through Narrative-Driven Computational Imaging.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45 seconds.
A photograph presents one visual record, but our memory of that moment may change. Different recollections can lead to conflicting interpretations of focus, light, and visual details. My question is how these interpretations can coexist within one photograph instead of replacing one another. This builds on existing research into photography and memory, but explores coexistence as a generative method.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45 seconds.
Same Moon explores divergent visual worlds from one image. ReCollection creates memory-related imagery from language, while Wu and colleagues study photo editing as a remembering experience. My proposed gap is how multiple personal recollections can become distinct imaging states that coexist in one photograph. After this literature review, I shifted from visualizing ISP stages to preserving multiple memory-driven photographic interpretations.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45 seconds.
I propose a method contribution. First, personal memories become traceable imaging rules. Second, each recollection creates an independent photographic state, which can coexist with other states rather than replacing them. Third, the final image explores how conflicting memories reshape one photographic record. Without making the work, these visual relationships cannot be examined. Without photography, the tension between recorded images and remembered experience disappears.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45 seconds.
My primary target is SIGGRAPH 2027 Art Papers, with DIS Pictorials as an alternative. By November 25, I plan to create a working system using one photographic record and three memory-driven imaging branches. These branches will coexist within a single image. I will produce three annotated photographic prints to compare different coexistence rules, together with documentation of the process.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EFENCE_TITLE">
    <p:bg>
      <p:bgPr>
        <a:solidFill>
          <a:schemeClr val="tx1"/>
        </a:solidFill>
        <a:effectLst/>
      </p:bgPr>
    </p:bg>
    <p:spTree>
      <p:nvGrpSpPr>
        <p:cNvPr id="1" name=""/>
        <p:cNvGrpSpPr/>
        <p:nvPr/>
      </p:nvGrpSpPr>
      <p:grpSpPr>
        <a:xfrm>
          <a:off x="0" y="0"/>
          <a:ext cx="0" cy="0"/>
          <a:chOff x="0" y="0"/>
          <a:chExt cx="0" cy="0"/>
        </a:xfrm>
      </p:grpSpPr>
      <p:sp>
        <p:nvSpPr>
          <p:cNvPr id="2" name="Text 0"/>
          <p:cNvSpPr/>
          <p:nvPr/>
        </p:nvSpPr>
        <p:spPr>
          <a:xfrm>
            <a:off x="731520" y="640080"/>
            <a:ext cx="8229600" cy="365760"/>
          </a:xfrm>
          <a:prstGeom prst="rect">
            <a:avLst/>
          </a:prstGeom>
          <a:noFill/>
        </p:spPr>
        <p:txBody>
          <a:bodyPr wrap="square" lIns="0" tIns="0" rIns="0" bIns="0" rtlCol="0" anchor="ctr"/>
          <a:lstStyle/>
          <a:p>
            <a:pPr marL="0" indent="0">
              <a:buNone/>
            </a:pPr>
            <a:r>
              <a:rPr lang="en-US" sz="1600" b="1" dirty="0">
                <a:solidFill>
                  <a:schemeClr val="accent1"/>
                </a:solidFill>
              </a:rPr>
              <a:t>3 minutes · 5 slides · then 2 minutes of questions</a:t>
            </a:r>
            <a:endParaRPr lang="en-US" sz="1600" dirty="0"/>
          </a:p>
        </p:txBody>
      </p:sp>
      <p:sp>
        <p:nvSpPr>
          <p:cNvPr id="3" name="Text 1"/>
          <p:cNvSpPr/>
          <p:nvPr>
            <p:ph type="title" idx="101" hasCustomPrompt="1"/>
          </p:nvPr>
        </p:nvSpPr>
        <p:spPr>
          <a:xfrm>
            <a:off x="731520" y="2011680"/>
            <a:ext cx="10698480" cy="1463040"/>
          </a:xfrm>
          <a:prstGeom prst="rect">
            <a:avLst/>
          </a:prstGeom>
          <a:noFill/>
        </p:spPr>
        <p:txBody>
          <a:bodyPr wrap="square" rtlCol="0"/>
          <a:lstStyle>
            <a:lvl1pPr marL="0" indent="0" algn="l">
              <a:buNone/>
              <a:defRPr lang="en-US" sz="4400" b="1" dirty="0">
                <a:solidFill>
                  <a:schemeClr val="bg1"/>
                </a:solidFill>
              </a:defRPr>
            </a:lvl1pPr>
          </a:lstStyle>
          <a:p>
            <a:pPr marL="0" indent="0" algn="l">
              <a:buNone/>
            </a:pPr>
            <a:endParaRPr lang="en-US" sz="4400" dirty="0"/>
          </a:p>
        </p:txBody>
      </p:sp>
      <p:sp>
        <p:nvSpPr>
          <p:cNvPr id="4" name="Text 1"/>
          <p:cNvSpPr/>
          <p:nvPr>
            <p:ph type="body" idx="102" hasCustomPrompt="1"/>
          </p:nvPr>
        </p:nvSpPr>
        <p:spPr>
          <a:xfrm>
            <a:off x="731520" y="3703320"/>
            <a:ext cx="10698480" cy="1737360"/>
          </a:xfrm>
          <a:prstGeom prst="rect">
            <a:avLst/>
          </a:prstGeom>
          <a:noFill/>
        </p:spPr>
        <p:txBody>
          <a:bodyPr wrap="square" rtlCol="0"/>
          <a:lstStyle>
            <a:lvl1pPr marL="0" indent="0" algn="l">
              <a:buNone/>
              <a:defRPr lang="en-US" sz="2200" dirty="0">
                <a:solidFill>
                  <a:schemeClr val="accent4"/>
                </a:solidFill>
              </a:defRPr>
            </a:lvl1pPr>
          </a:lstStyle>
          <a:p>
            <a:pPr marL="0" indent="0" algn="l">
              <a:buNone/>
            </a:pPr>
            <a:endParaRPr lang="en-US" sz="2200" dirty="0"/>
          </a:p>
        </p:txBody>
      </p:sp>
      <p:sp>
        <p:nvSpPr>
          <p:cNvPr id="5" name="Text 1"/>
          <p:cNvSpPr/>
          <p:nvPr/>
        </p:nvSpPr>
        <p:spPr>
          <a:xfrm>
            <a:off x="731520" y="6126480"/>
            <a:ext cx="7315200" cy="320040"/>
          </a:xfrm>
          <a:prstGeom prst="rect">
            <a:avLst/>
          </a:prstGeom>
          <a:noFill/>
        </p:spPr>
        <p:txBody>
          <a:bodyPr wrap="square" lIns="0" tIns="0" rIns="0" bIns="0" rtlCol="0" anchor="ctr"/>
          <a:lstStyle/>
          <a:p>
            <a:pPr marL="0" indent="0">
              <a:buNone/>
            </a:pPr>
            <a:r>
              <a:rPr lang="en-US" sz="1400" dirty="0">
                <a:solidFill>
                  <a:schemeClr val="accent3"/>
                </a:solidFill>
              </a:rPr>
              <a:t>ARTD8105 · Session 8 · 14 October 2026</a:t>
            </a:r>
            <a:endParaRPr lang="en-US" sz="1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EFENCE_CONTENT">
    <p:bg>
      <p:bgPr>
        <a:solidFill>
          <a:schemeClr val="bg1"/>
        </a:solidFill>
        <a:effectLst/>
      </p:bgPr>
    </p:bg>
    <p:spTree>
      <p:nvGrpSpPr>
        <p:cNvPr id="1" name=""/>
        <p:cNvGrpSpPr/>
        <p:nvPr/>
      </p:nvGrpSpPr>
      <p:grpSpPr>
        <a:xfrm>
          <a:off x="0" y="0"/>
          <a:ext cx="0" cy="0"/>
          <a:chOff x="0" y="0"/>
          <a:chExt cx="0" cy="0"/>
        </a:xfrm>
      </p:grpSpPr>
      <p:sp>
        <p:nvSpPr>
          <p:cNvPr id="2" name="Text 0"/>
          <p:cNvSpPr/>
          <p:nvPr>
            <p:ph type="title" idx="100" hasCustomPrompt="1"/>
          </p:nvPr>
        </p:nvSpPr>
        <p:spPr>
          <a:xfrm>
            <a:off x="548640" y="320040"/>
            <a:ext cx="8778240" cy="777240"/>
          </a:xfrm>
          <a:prstGeom prst="rect">
            <a:avLst/>
          </a:prstGeom>
          <a:noFill/>
        </p:spPr>
        <p:txBody>
          <a:bodyPr wrap="square" rtlCol="0"/>
          <a:lstStyle>
            <a:lvl1pPr marL="0" indent="0" algn="l">
              <a:buNone/>
              <a:defRPr lang="en-US" sz="3200" b="1" dirty="0">
                <a:solidFill>
                  <a:schemeClr val="tx1"/>
                </a:solidFill>
              </a:defRPr>
            </a:lvl1pPr>
          </a:lstStyle>
          <a:p>
            <a:pPr marL="0" indent="0" algn="l">
              <a:buNone/>
            </a:pPr>
            <a:endParaRPr lang="en-US" sz="3200" dirty="0"/>
          </a:p>
        </p:txBody>
      </p:sp>
      <p:sp>
        <p:nvSpPr>
          <p:cNvPr id="3" name="Shape 0"/>
          <p:cNvSpPr/>
          <p:nvPr/>
        </p:nvSpPr>
        <p:spPr>
          <a:xfrm>
            <a:off x="9646920" y="438912"/>
            <a:ext cx="1965960" cy="530352"/>
          </a:xfrm>
          <a:prstGeom prst="rect">
            <a:avLst/>
          </a:prstGeom>
          <a:solidFill>
            <a:schemeClr val="bg2"/>
          </a:solidFill>
        </p:spPr>
      </p:sp>
      <p:sp>
        <p:nvSpPr>
          <p:cNvPr id="4" name="Text 1"/>
          <p:cNvSpPr/>
          <p:nvPr/>
        </p:nvSpPr>
        <p:spPr>
          <a:xfrm>
            <a:off x="9646920" y="438912"/>
            <a:ext cx="1965960" cy="530352"/>
          </a:xfrm>
          <a:prstGeom prst="rect">
            <a:avLst/>
          </a:prstGeom>
          <a:noFill/>
        </p:spPr>
        <p:txBody>
          <a:bodyPr wrap="square" lIns="0" tIns="0" rIns="0" bIns="0" rtlCol="0" anchor="ctr"/>
          <a:lstStyle/>
          <a:p>
            <a:pPr marL="0" indent="0" algn="ctr">
              <a:buNone/>
            </a:pPr>
            <a:r>
              <a:rPr lang="en-US" sz="1400" b="1" dirty="0">
                <a:solidFill>
                  <a:schemeClr val="accent1"/>
                </a:solidFill>
              </a:rPr>
              <a:t>about 45 seconds</a:t>
            </a:r>
            <a:endParaRPr lang="en-US" sz="1400" dirty="0"/>
          </a:p>
        </p:txBody>
      </p:sp>
      <p:sp>
        <p:nvSpPr>
          <p:cNvPr id="5" name="Text 2"/>
          <p:cNvSpPr/>
          <p:nvPr>
            <p:ph type="body" idx="103" hasCustomPrompt="1"/>
          </p:nvPr>
        </p:nvSpPr>
        <p:spPr>
          <a:xfrm>
            <a:off x="548640" y="1371600"/>
            <a:ext cx="6766560" cy="4663440"/>
          </a:xfrm>
          <a:prstGeom prst="rect">
            <a:avLst/>
          </a:prstGeom>
          <a:noFill/>
        </p:spPr>
        <p:txBody>
          <a:bodyPr wrap="square" rtlCol="0"/>
          <a:lstStyle>
            <a:lvl1pPr marL="0" indent="0" algn="l">
              <a:buNone/>
              <a:defRPr lang="en-US" sz="2200" dirty="0">
                <a:solidFill>
                  <a:schemeClr val="tx1"/>
                </a:solidFill>
              </a:defRPr>
            </a:lvl1pPr>
          </a:lstStyle>
          <a:p>
            <a:pPr marL="0" indent="0" algn="l">
              <a:buNone/>
            </a:pPr>
            <a:endParaRPr lang="en-US" sz="2200" dirty="0"/>
          </a:p>
        </p:txBody>
      </p:sp>
      <p:sp>
        <p:nvSpPr>
          <p:cNvPr id="6" name="Shape 2"/>
          <p:cNvSpPr/>
          <p:nvPr/>
        </p:nvSpPr>
        <p:spPr>
          <a:xfrm>
            <a:off x="7635240" y="1371600"/>
            <a:ext cx="3977640" cy="4663440"/>
          </a:xfrm>
          <a:prstGeom prst="rect">
            <a:avLst/>
          </a:prstGeom>
          <a:solidFill>
            <a:schemeClr val="bg2"/>
          </a:solidFill>
        </p:spPr>
      </p:sp>
      <p:sp>
        <p:nvSpPr>
          <p:cNvPr id="7" name="Text 3"/>
          <p:cNvSpPr/>
          <p:nvPr>
            <p:ph type="body" idx="105" hasCustomPrompt="1"/>
          </p:nvPr>
        </p:nvSpPr>
        <p:spPr>
          <a:xfrm>
            <a:off x="7863840" y="2011680"/>
            <a:ext cx="3520440" cy="3840480"/>
          </a:xfrm>
          <a:prstGeom prst="rect">
            <a:avLst/>
          </a:prstGeom>
          <a:noFill/>
        </p:spPr>
        <p:txBody>
          <a:bodyPr wrap="square" rtlCol="0"/>
          <a:lstStyle>
            <a:lvl1pPr marL="0" indent="0" algn="l">
              <a:buNone/>
              <a:defRPr lang="en-US" sz="1800" dirty="0">
                <a:solidFill>
                  <a:schemeClr val="tx1"/>
                </a:solidFill>
              </a:defRPr>
            </a:lvl1pPr>
          </a:lstStyle>
          <a:p>
            <a:pPr marL="0" indent="0" algn="l">
              <a:buNone/>
            </a:pPr>
            <a:endParaRPr lang="en-US" sz="1800" dirty="0"/>
          </a:p>
        </p:txBody>
      </p:sp>
      <p:sp>
        <p:nvSpPr>
          <p:cNvPr id="8" name="Text 3"/>
          <p:cNvSpPr/>
          <p:nvPr/>
        </p:nvSpPr>
        <p:spPr>
          <a:xfrm>
            <a:off x="548640" y="6400800"/>
            <a:ext cx="8229600" cy="274320"/>
          </a:xfrm>
          <a:prstGeom prst="rect">
            <a:avLst/>
          </a:prstGeom>
          <a:noFill/>
        </p:spPr>
        <p:txBody>
          <a:bodyPr wrap="square" lIns="0" tIns="0" rIns="0" bIns="0" rtlCol="0" anchor="ctr"/>
          <a:lstStyle/>
          <a:p>
            <a:pPr marL="0" indent="0">
              <a:buNone/>
            </a:pPr>
            <a:r>
              <a:rPr lang="en-US" sz="1000" dirty="0">
                <a:solidFill>
                  <a:schemeClr val="tx2"/>
                </a:solidFill>
              </a:rPr>
              <a:t>ARTD8105 · Idea evaluation defence · 3 minutes, then 2 minutes of questions</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p:spPr>
        <p:txBody>
          <a:bodyPr/>
          <a:lstStyle>
            <a:lvl1pPr>
              <a:defRPr sz="1000">
                <a:solidFill>
                  <a:schemeClr val="tx2"/>
                </a:solidFill>
              </a:defRPr>
            </a:lvl1pPr>
          </a:lstStyle>
          <a:p>
            <a:pPr algn="r"/>
            <a:fld id="{F7021451-1387-4CA6-816F-3879F97B5CBC}" type="slidenum">
              <a:rPr lang="en-US" b="0"/>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4" Type="http://schemas.openxmlformats.org/officeDocument/2006/relationships/theme" Target="../theme/theme1.xml"/><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p:spPr>
        <p:txBody>
          <a:bodyPr/>
          <a:lstStyle>
            <a:lvl1pPr>
              <a:defRPr sz="1000">
                <a:solidFill>
                  <a:schemeClr val="tx2"/>
                </a:solidFill>
              </a:defRPr>
            </a:lvl1pPr>
          </a:lstStyle>
          <a:p>
            <a:pPr algn="r"/>
            <a:fld id="{F7021451-1387-4CA6-816F-3879F97B5CBC}" type="slidenum">
              <a:rPr lang="en-US" b="0"/>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anose="020B07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7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7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7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7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7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7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7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704020202020204"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1"/>
          <p:cNvSpPr/>
          <p:nvPr>
            <p:ph type="title" idx="101" hasCustomPrompt="1"/>
          </p:nvPr>
        </p:nvSpPr>
        <p:spPr>
          <a:xfrm>
            <a:off x="731520" y="2011680"/>
            <a:ext cx="10698480" cy="1463040"/>
          </a:xfrm>
          <a:prstGeom prst="rect">
            <a:avLst/>
          </a:prstGeom>
          <a:noFill/>
        </p:spPr>
        <p:txBody>
          <a:bodyPr wrap="square" lIns="0" tIns="0" rIns="0" bIns="0" rtlCol="0" anchor="b"/>
          <a:lstStyle/>
          <a:p>
            <a:pPr marL="0" indent="0" algn="l">
              <a:buNone/>
            </a:pPr>
            <a:r>
              <a:rPr lang="en-US" sz="4400" b="1" dirty="0">
                <a:solidFill>
                  <a:schemeClr val="bg1"/>
                </a:solidFill>
              </a:rPr>
              <a:t>A Photograph of Coexisting Memories</a:t>
            </a:r>
            <a:endParaRPr lang="en-US" sz="4400" dirty="0"/>
          </a:p>
          <a:p>
            <a:pPr marL="0" indent="0" algn="l">
              <a:buNone/>
            </a:pPr>
            <a:r>
              <a:rPr lang="en-US" sz="4400" b="1" dirty="0">
                <a:solidFill>
                  <a:schemeClr val="bg1"/>
                </a:solidFill>
              </a:rPr>
              <a:t>Narrative-Driven Computational Imaging</a:t>
            </a:r>
            <a:endParaRPr lang="en-US" sz="4400" dirty="0"/>
          </a:p>
        </p:txBody>
      </p:sp>
      <p:sp>
        <p:nvSpPr>
          <p:cNvPr id="3" name="Text 1"/>
          <p:cNvSpPr/>
          <p:nvPr>
            <p:ph type="body" idx="102" hasCustomPrompt="1"/>
          </p:nvPr>
        </p:nvSpPr>
        <p:spPr>
          <a:xfrm>
            <a:off x="731520" y="3703320"/>
            <a:ext cx="10698480" cy="1737360"/>
          </a:xfrm>
          <a:prstGeom prst="rect">
            <a:avLst/>
          </a:prstGeom>
          <a:noFill/>
        </p:spPr>
        <p:txBody>
          <a:bodyPr wrap="square" lIns="0" tIns="0" rIns="0" bIns="0" rtlCol="0" anchor="t"/>
          <a:lstStyle/>
          <a:p>
            <a:pPr marL="0" indent="0" algn="l">
              <a:buNone/>
            </a:pPr>
            <a:r>
              <a:rPr lang="en-US" sz="2200" dirty="0">
                <a:solidFill>
                  <a:schemeClr val="accent4"/>
                </a:solidFill>
              </a:rPr>
              <a:t>zhaijiayu</a:t>
            </a:r>
            <a:endParaRPr lang="en-US" sz="2200" dirty="0"/>
          </a:p>
          <a:p>
            <a:pPr marL="0" indent="0" algn="l">
              <a:buNone/>
            </a:pPr>
            <a:r>
              <a:rPr lang="en-US" sz="1800" dirty="0">
                <a:solidFill>
                  <a:schemeClr val="accent3"/>
                </a:solidFill>
              </a:rPr>
              <a:t>Individual</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ph type="title" idx="100" hasCustomPrompt="1"/>
          </p:nvPr>
        </p:nvSpPr>
        <p:spPr>
          <a:xfrm>
            <a:off x="548640" y="320040"/>
            <a:ext cx="8778240" cy="777240"/>
          </a:xfrm>
          <a:prstGeom prst="rect">
            <a:avLst/>
          </a:prstGeom>
          <a:noFill/>
        </p:spPr>
        <p:txBody>
          <a:bodyPr wrap="square" lIns="0" tIns="0" rIns="0" bIns="0" rtlCol="0" anchor="ctr"/>
          <a:lstStyle/>
          <a:p>
            <a:pPr marL="0" indent="0" algn="l">
              <a:buNone/>
            </a:pPr>
            <a:r>
              <a:rPr lang="en-US" sz="3200" b="1" dirty="0">
                <a:solidFill>
                  <a:schemeClr val="tx1"/>
                </a:solidFill>
              </a:rPr>
              <a:t>The problem</a:t>
            </a:r>
            <a:endParaRPr lang="en-US" sz="3200" dirty="0"/>
          </a:p>
        </p:txBody>
      </p:sp>
      <p:sp>
        <p:nvSpPr>
          <p:cNvPr id="3" name="Text 2"/>
          <p:cNvSpPr/>
          <p:nvPr>
            <p:ph type="body" idx="103" hasCustomPrompt="1"/>
          </p:nvPr>
        </p:nvSpPr>
        <p:spPr>
          <a:xfrm>
            <a:off x="548640" y="1371600"/>
            <a:ext cx="6766560" cy="4663440"/>
          </a:xfrm>
          <a:prstGeom prst="rect">
            <a:avLst/>
          </a:prstGeom>
          <a:noFill/>
        </p:spPr>
        <p:txBody>
          <a:bodyPr wrap="square" lIns="635" tIns="635" rIns="635" bIns="635" rtlCol="0" anchor="t"/>
          <a:lstStyle/>
          <a:p>
            <a:pPr marL="0" indent="0" algn="l">
              <a:buNone/>
            </a:pPr>
            <a:r>
              <a:rPr lang="en-US" sz="2200" dirty="0">
                <a:solidFill>
                  <a:schemeClr val="tx1"/>
                </a:solidFill>
              </a:rPr>
              <a:t>A photograph presents one visual record, but memories of that moment may change. Different recollections may suggest conflicting interpretations of focus, light, and visual details. How can these interpretations coexist within one photograph?</a:t>
            </a:r>
            <a:endParaRPr lang="en-US" sz="2200" dirty="0"/>
          </a:p>
        </p:txBody>
      </p:sp>
      <p:sp>
        <p:nvSpPr>
          <p:cNvPr id="4" name="side label"/>
          <p:cNvSpPr txBox="1"/>
          <p:nvPr/>
        </p:nvSpPr>
        <p:spPr>
          <a:xfrm>
            <a:off x="7863840" y="1508760"/>
            <a:ext cx="3520440" cy="411480"/>
          </a:xfrm>
          <a:prstGeom prst="rect">
            <a:avLst/>
          </a:prstGeom>
          <a:noFill/>
        </p:spPr>
        <p:txBody>
          <a:bodyPr wrap="square" lIns="0" tIns="0" rIns="0" bIns="0" rtlCol="0" anchor="ctr"/>
          <a:lstStyle/>
          <a:p>
            <a:pPr marL="0" indent="0">
              <a:buNone/>
            </a:pPr>
            <a:r>
              <a:rPr lang="en-US" sz="1800" b="1" dirty="0">
                <a:solidFill>
                  <a:schemeClr val="tx1"/>
                </a:solidFill>
                <a:latin typeface="+mj-lt"/>
                <a:ea typeface="+mj-lt"/>
                <a:cs typeface="+mj-lt"/>
              </a:rPr>
              <a:t>New or old?</a:t>
            </a:r>
            <a:endParaRPr lang="en-US" sz="1800" dirty="0"/>
          </a:p>
        </p:txBody>
      </p:sp>
      <p:sp>
        <p:nvSpPr>
          <p:cNvPr id="5" name="Text 3"/>
          <p:cNvSpPr/>
          <p:nvPr>
            <p:ph type="body" idx="105" hasCustomPrompt="1"/>
          </p:nvPr>
        </p:nvSpPr>
        <p:spPr>
          <a:xfrm>
            <a:off x="7863840" y="2011680"/>
            <a:ext cx="3520440" cy="3840480"/>
          </a:xfrm>
          <a:prstGeom prst="rect">
            <a:avLst/>
          </a:prstGeom>
          <a:noFill/>
        </p:spPr>
        <p:txBody>
          <a:bodyPr wrap="square" lIns="635" tIns="635" rIns="635" bIns="635" rtlCol="0" anchor="t"/>
          <a:lstStyle/>
          <a:p>
            <a:pPr marL="0" indent="0" algn="l">
              <a:buNone/>
            </a:pPr>
            <a:r>
              <a:rPr lang="en-US" sz="1800" dirty="0">
                <a:solidFill>
                  <a:schemeClr val="tx1"/>
                </a:solidFill>
              </a:rPr>
              <a:t>An existing question about photography and memory, approached through a proposed generative method of coexistence.</a:t>
            </a:r>
            <a:endParaRPr lang="en-US" sz="1800" dirty="0"/>
          </a:p>
        </p:txBody>
      </p:sp>
      <p:sp>
        <p:nvSpPr>
          <p:cNvPr id="25" name="Slide Number Placeholder 0"/>
          <p:cNvSpPr>
            <a:spLocks noGrp="1"/>
          </p:cNvSpPr>
          <p:nvPr>
            <p:ph type="sldNum" sz="quarter" idx="4294967295"/>
          </p:nvPr>
        </p:nvSpPr>
        <p:spPr>
          <a:xfrm>
            <a:off x="11155680" y="6400800"/>
            <a:ext cx="457200" cy="274320"/>
          </a:xfrm>
          <a:prstGeom prst="rect">
            <a:avLst/>
          </a:prstGeom>
        </p:spPr>
        <p:txBody>
          <a:bodyPr/>
          <a:lstStyle>
            <a:lvl1pPr>
              <a:defRPr sz="1000">
                <a:solidFill>
                  <a:schemeClr val="tx2"/>
                </a:solidFill>
              </a:defRPr>
            </a:lvl1pPr>
          </a:lstStyle>
          <a:p>
            <a:pPr algn="r"/>
            <a:fld id="{F7021451-1387-4CA6-816F-3879F97B5CBC}" type="slidenum">
              <a:rPr lang="en-US" b="0"/>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ph type="title" idx="100" hasCustomPrompt="1"/>
          </p:nvPr>
        </p:nvSpPr>
        <p:spPr>
          <a:xfrm>
            <a:off x="548640" y="320040"/>
            <a:ext cx="8778240" cy="777240"/>
          </a:xfrm>
          <a:prstGeom prst="rect">
            <a:avLst/>
          </a:prstGeom>
          <a:noFill/>
        </p:spPr>
        <p:txBody>
          <a:bodyPr wrap="square" lIns="0" tIns="0" rIns="0" bIns="0" rtlCol="0" anchor="ctr"/>
          <a:lstStyle/>
          <a:p>
            <a:pPr marL="0" indent="0" algn="l">
              <a:buNone/>
            </a:pPr>
            <a:r>
              <a:rPr lang="en-US" sz="3200" b="1" dirty="0">
                <a:solidFill>
                  <a:schemeClr val="tx1"/>
                </a:solidFill>
              </a:rPr>
              <a:t>The gap</a:t>
            </a:r>
            <a:endParaRPr lang="en-US" sz="3200" dirty="0"/>
          </a:p>
        </p:txBody>
      </p:sp>
      <p:sp>
        <p:nvSpPr>
          <p:cNvPr id="3" name="Text 2"/>
          <p:cNvSpPr/>
          <p:nvPr>
            <p:ph type="body" idx="103" hasCustomPrompt="1"/>
          </p:nvPr>
        </p:nvSpPr>
        <p:spPr>
          <a:xfrm>
            <a:off x="548640" y="1371600"/>
            <a:ext cx="6766560" cy="4663440"/>
          </a:xfrm>
          <a:prstGeom prst="rect">
            <a:avLst/>
          </a:prstGeom>
          <a:noFill/>
        </p:spPr>
        <p:txBody>
          <a:bodyPr wrap="square" lIns="635" tIns="635" rIns="635" bIns="635" rtlCol="0" anchor="t"/>
          <a:lstStyle/>
          <a:p>
            <a:pPr marL="342900" indent="-342900" algn="l">
              <a:buSzPct val="100000"/>
              <a:buChar char="•"/>
            </a:pPr>
            <a:r>
              <a:rPr lang="en-US" sz="2200" dirty="0">
                <a:solidFill>
                  <a:schemeClr val="tx1"/>
                </a:solidFill>
              </a:rPr>
              <a:t>Cloud &amp; Yin (2026) — Are We Gazing at the Same Moon? Divergent images from one source, not successive personal recollections.</a:t>
            </a:r>
            <a:endParaRPr lang="en-US" sz="2200" dirty="0"/>
          </a:p>
          <a:p>
            <a:pPr marL="342900" indent="-342900" algn="l">
              <a:buSzPct val="100000"/>
              <a:buChar char="•"/>
            </a:pPr>
            <a:r>
              <a:rPr lang="en-US" sz="2200" dirty="0">
                <a:solidFill>
                  <a:schemeClr val="tx1"/>
                </a:solidFill>
              </a:rPr>
              <a:t>Zhang et al. (2024) — ReCollection. Memory images from language, not a revision of one shared photographic record.</a:t>
            </a:r>
            <a:endParaRPr lang="en-US" sz="2200" dirty="0"/>
          </a:p>
          <a:p>
            <a:pPr marL="342900" indent="-342900" algn="l">
              <a:buSzPct val="100000"/>
              <a:buChar char="•"/>
            </a:pPr>
            <a:r>
              <a:rPr lang="en-US" sz="2200" dirty="0">
                <a:solidFill>
                  <a:schemeClr val="tx1"/>
                </a:solidFill>
              </a:rPr>
              <a:t>Wu et al. (2026) — GenAI Photo Editing as a Remembering Experience. Remembering through editing, not multiple edits coexisting in one image.</a:t>
            </a:r>
            <a:endParaRPr lang="en-US" sz="2200" dirty="0"/>
          </a:p>
        </p:txBody>
      </p:sp>
      <p:sp>
        <p:nvSpPr>
          <p:cNvPr id="4" name="side label"/>
          <p:cNvSpPr txBox="1"/>
          <p:nvPr/>
        </p:nvSpPr>
        <p:spPr>
          <a:xfrm>
            <a:off x="7863840" y="1508760"/>
            <a:ext cx="3520440" cy="411480"/>
          </a:xfrm>
          <a:prstGeom prst="rect">
            <a:avLst/>
          </a:prstGeom>
          <a:noFill/>
        </p:spPr>
        <p:txBody>
          <a:bodyPr wrap="square" lIns="0" tIns="0" rIns="0" bIns="0" rtlCol="0" anchor="ctr"/>
          <a:lstStyle/>
          <a:p>
            <a:pPr marL="0" indent="0">
              <a:buNone/>
            </a:pPr>
            <a:r>
              <a:rPr lang="en-US" sz="1800" b="1" dirty="0">
                <a:solidFill>
                  <a:schemeClr val="tx1"/>
                </a:solidFill>
                <a:latin typeface="+mj-lt"/>
                <a:ea typeface="+mj-lt"/>
                <a:cs typeface="+mj-lt"/>
              </a:rPr>
              <a:t>The gap, and what changed</a:t>
            </a:r>
            <a:endParaRPr lang="en-US" sz="1800" dirty="0"/>
          </a:p>
        </p:txBody>
      </p:sp>
      <p:sp>
        <p:nvSpPr>
          <p:cNvPr id="5" name="Text 3"/>
          <p:cNvSpPr/>
          <p:nvPr>
            <p:ph type="body" idx="105" hasCustomPrompt="1"/>
          </p:nvPr>
        </p:nvSpPr>
        <p:spPr>
          <a:xfrm>
            <a:off x="7863840" y="2011680"/>
            <a:ext cx="3520440" cy="3840480"/>
          </a:xfrm>
          <a:prstGeom prst="rect">
            <a:avLst/>
          </a:prstGeom>
          <a:noFill/>
        </p:spPr>
        <p:txBody>
          <a:bodyPr wrap="square" lIns="635" tIns="635" rIns="635" bIns="635" rtlCol="0" anchor="t"/>
          <a:lstStyle/>
          <a:p>
            <a:pPr marL="0" indent="0" algn="l">
              <a:buNone/>
            </a:pPr>
            <a:r>
              <a:rPr lang="en-US" sz="1800" b="1" dirty="0">
                <a:solidFill>
                  <a:schemeClr val="tx1"/>
                </a:solidFill>
              </a:rPr>
              <a:t>How can multiple recollections coexist as distinct imaging states within a single photograph?</a:t>
            </a:r>
            <a:endParaRPr lang="en-US" sz="1800" dirty="0"/>
          </a:p>
          <a:p>
            <a:pPr marL="0" indent="0" algn="l">
              <a:buNone/>
            </a:pPr>
            <a:endParaRPr lang="en-US" sz="1800" dirty="0"/>
          </a:p>
          <a:p>
            <a:pPr marL="0" indent="0" algn="l">
              <a:buNone/>
            </a:pPr>
            <a:r>
              <a:rPr lang="en-US" sz="1800" dirty="0">
                <a:solidFill>
                  <a:schemeClr val="tx1"/>
                </a:solidFill>
              </a:rPr>
              <a:t>From displaying ISP stages to generating coexisting photographic interpretations through personal recollections.</a:t>
            </a:r>
            <a:endParaRPr lang="en-US" sz="1800" dirty="0"/>
          </a:p>
        </p:txBody>
      </p:sp>
      <p:sp>
        <p:nvSpPr>
          <p:cNvPr id="25" name="Slide Number Placeholder 0"/>
          <p:cNvSpPr>
            <a:spLocks noGrp="1"/>
          </p:cNvSpPr>
          <p:nvPr>
            <p:ph type="sldNum" sz="quarter" idx="4294967295"/>
          </p:nvPr>
        </p:nvSpPr>
        <p:spPr>
          <a:xfrm>
            <a:off x="11155680" y="6400800"/>
            <a:ext cx="457200" cy="274320"/>
          </a:xfrm>
          <a:prstGeom prst="rect">
            <a:avLst/>
          </a:prstGeom>
        </p:spPr>
        <p:txBody>
          <a:bodyPr/>
          <a:lstStyle>
            <a:lvl1pPr>
              <a:defRPr sz="1000">
                <a:solidFill>
                  <a:schemeClr val="tx2"/>
                </a:solidFill>
              </a:defRPr>
            </a:lvl1pPr>
          </a:lstStyle>
          <a:p>
            <a:pPr algn="r"/>
            <a:fld id="{F7021451-1387-4CA6-816F-3879F97B5CBC}" type="slidenum">
              <a:rPr lang="en-US" b="0"/>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ph type="title" idx="100" hasCustomPrompt="1"/>
          </p:nvPr>
        </p:nvSpPr>
        <p:spPr>
          <a:xfrm>
            <a:off x="548640" y="320040"/>
            <a:ext cx="8778240" cy="777240"/>
          </a:xfrm>
          <a:prstGeom prst="rect">
            <a:avLst/>
          </a:prstGeom>
          <a:noFill/>
        </p:spPr>
        <p:txBody>
          <a:bodyPr wrap="square" lIns="0" tIns="0" rIns="0" bIns="0" rtlCol="0" anchor="ctr"/>
          <a:lstStyle/>
          <a:p>
            <a:pPr marL="0" indent="0" algn="l">
              <a:buNone/>
            </a:pPr>
            <a:r>
              <a:rPr lang="en-US" sz="3200" b="1" dirty="0">
                <a:solidFill>
                  <a:schemeClr val="tx1"/>
                </a:solidFill>
              </a:rPr>
              <a:t>The contribution</a:t>
            </a:r>
            <a:endParaRPr lang="en-US" sz="3200" dirty="0"/>
          </a:p>
        </p:txBody>
      </p:sp>
      <p:sp>
        <p:nvSpPr>
          <p:cNvPr id="3" name="Text 2"/>
          <p:cNvSpPr/>
          <p:nvPr>
            <p:ph type="body" idx="103" hasCustomPrompt="1"/>
          </p:nvPr>
        </p:nvSpPr>
        <p:spPr>
          <a:xfrm>
            <a:off x="548640" y="1371600"/>
            <a:ext cx="6766560" cy="4663440"/>
          </a:xfrm>
          <a:prstGeom prst="rect">
            <a:avLst/>
          </a:prstGeom>
          <a:noFill/>
        </p:spPr>
        <p:txBody>
          <a:bodyPr wrap="square" lIns="635" tIns="635" rIns="635" bIns="635" rtlCol="0" anchor="t"/>
          <a:lstStyle/>
          <a:p>
            <a:pPr marL="0" indent="0" algn="l">
              <a:buNone/>
            </a:pPr>
            <a:r>
              <a:rPr lang="en-US" sz="2200" b="1" dirty="0">
                <a:solidFill>
                  <a:schemeClr val="tx1"/>
                </a:solidFill>
              </a:rPr>
              <a:t>Method contribution, proposed.</a:t>
            </a:r>
            <a:endParaRPr lang="en-US" sz="2200" dirty="0"/>
          </a:p>
          <a:p>
            <a:pPr marL="342900" indent="-342900" algn="l">
              <a:buSzPct val="100000"/>
              <a:buChar char="•"/>
            </a:pPr>
            <a:r>
              <a:rPr lang="en-US" sz="2200" dirty="0">
                <a:solidFill>
                  <a:schemeClr val="tx1"/>
                </a:solidFill>
              </a:rPr>
              <a:t>Memory as a generative rule: personal recollections become traceable imaging decisions.</a:t>
            </a:r>
            <a:endParaRPr lang="en-US" sz="2200" dirty="0"/>
          </a:p>
          <a:p>
            <a:pPr marL="342900" indent="-342900" algn="l">
              <a:buSzPct val="100000"/>
              <a:buChar char="•"/>
            </a:pPr>
            <a:r>
              <a:rPr lang="en-US" sz="2200" dirty="0">
                <a:solidFill>
                  <a:schemeClr val="tx1"/>
                </a:solidFill>
              </a:rPr>
              <a:t>Coexisting photographic states: independent memory-driven interpretations stay within one image.</a:t>
            </a:r>
            <a:endParaRPr lang="en-US" sz="2200" dirty="0"/>
          </a:p>
          <a:p>
            <a:pPr marL="342900" indent="-342900" algn="l">
              <a:buSzPct val="100000"/>
              <a:buChar char="•"/>
            </a:pPr>
            <a:r>
              <a:rPr lang="en-US" sz="2200" dirty="0">
                <a:solidFill>
                  <a:schemeClr val="tx1"/>
                </a:solidFill>
              </a:rPr>
              <a:t>A photograph of multiple memories: conflicting recollections reshape one photographic record.</a:t>
            </a:r>
            <a:endParaRPr lang="en-US" sz="2200" dirty="0"/>
          </a:p>
        </p:txBody>
      </p:sp>
      <p:sp>
        <p:nvSpPr>
          <p:cNvPr id="4" name="side label"/>
          <p:cNvSpPr txBox="1"/>
          <p:nvPr/>
        </p:nvSpPr>
        <p:spPr>
          <a:xfrm>
            <a:off x="7863840" y="1508760"/>
            <a:ext cx="3520440" cy="411480"/>
          </a:xfrm>
          <a:prstGeom prst="rect">
            <a:avLst/>
          </a:prstGeom>
          <a:noFill/>
        </p:spPr>
        <p:txBody>
          <a:bodyPr wrap="square" lIns="0" tIns="0" rIns="0" bIns="0" rtlCol="0" anchor="ctr"/>
          <a:lstStyle/>
          <a:p>
            <a:pPr marL="0" indent="0">
              <a:buNone/>
            </a:pPr>
            <a:r>
              <a:rPr lang="en-US" sz="1800" b="1" dirty="0">
                <a:solidFill>
                  <a:schemeClr val="tx1"/>
                </a:solidFill>
                <a:latin typeface="+mj-lt"/>
                <a:ea typeface="+mj-lt"/>
                <a:cs typeface="+mj-lt"/>
              </a:rPr>
              <a:t>Necessity test</a:t>
            </a:r>
            <a:endParaRPr lang="en-US" sz="1800" dirty="0"/>
          </a:p>
        </p:txBody>
      </p:sp>
      <p:sp>
        <p:nvSpPr>
          <p:cNvPr id="5" name="Text 3"/>
          <p:cNvSpPr/>
          <p:nvPr>
            <p:ph type="body" idx="105" hasCustomPrompt="1"/>
          </p:nvPr>
        </p:nvSpPr>
        <p:spPr>
          <a:xfrm>
            <a:off x="7863840" y="2011680"/>
            <a:ext cx="3520440" cy="3840480"/>
          </a:xfrm>
          <a:prstGeom prst="rect">
            <a:avLst/>
          </a:prstGeom>
          <a:noFill/>
        </p:spPr>
        <p:txBody>
          <a:bodyPr wrap="square" lIns="635" tIns="635" rIns="635" bIns="635" rtlCol="0" anchor="t"/>
          <a:lstStyle/>
          <a:p>
            <a:pPr marL="0" indent="0" algn="l">
              <a:buNone/>
            </a:pPr>
            <a:r>
              <a:rPr lang="en-US" sz="1800" dirty="0">
                <a:solidFill>
                  <a:schemeClr val="tx1"/>
                </a:solidFill>
              </a:rPr>
              <a:t>Without the making: the visual coexistence of conflicting memories cannot be examined.</a:t>
            </a:r>
            <a:endParaRPr lang="en-US" sz="1800" dirty="0"/>
          </a:p>
          <a:p>
            <a:pPr marL="0" indent="0" algn="l">
              <a:buNone/>
            </a:pPr>
            <a:endParaRPr lang="en-US" sz="1800" dirty="0"/>
          </a:p>
          <a:p>
            <a:pPr marL="0" indent="0" algn="l">
              <a:buNone/>
            </a:pPr>
            <a:r>
              <a:rPr lang="en-US" sz="1800" dirty="0">
                <a:solidFill>
                  <a:schemeClr val="tx1"/>
                </a:solidFill>
              </a:rPr>
              <a:t>Without photography: the tension between recorded images and remembered experience is lost.</a:t>
            </a:r>
            <a:endParaRPr lang="en-US" sz="1800" dirty="0"/>
          </a:p>
        </p:txBody>
      </p:sp>
      <p:sp>
        <p:nvSpPr>
          <p:cNvPr id="25" name="Slide Number Placeholder 0"/>
          <p:cNvSpPr>
            <a:spLocks noGrp="1"/>
          </p:cNvSpPr>
          <p:nvPr>
            <p:ph type="sldNum" sz="quarter" idx="4294967295"/>
          </p:nvPr>
        </p:nvSpPr>
        <p:spPr>
          <a:xfrm>
            <a:off x="11155680" y="6400800"/>
            <a:ext cx="457200" cy="274320"/>
          </a:xfrm>
          <a:prstGeom prst="rect">
            <a:avLst/>
          </a:prstGeom>
        </p:spPr>
        <p:txBody>
          <a:bodyPr/>
          <a:lstStyle>
            <a:lvl1pPr>
              <a:defRPr sz="1000">
                <a:solidFill>
                  <a:schemeClr val="tx2"/>
                </a:solidFill>
              </a:defRPr>
            </a:lvl1pPr>
          </a:lstStyle>
          <a:p>
            <a:pPr algn="r"/>
            <a:fld id="{F7021451-1387-4CA6-816F-3879F97B5CBC}" type="slidenum">
              <a:rPr lang="en-US" b="0"/>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ph type="title" idx="100" hasCustomPrompt="1"/>
          </p:nvPr>
        </p:nvSpPr>
        <p:spPr>
          <a:xfrm>
            <a:off x="548640" y="320040"/>
            <a:ext cx="8778240" cy="777240"/>
          </a:xfrm>
          <a:prstGeom prst="rect">
            <a:avLst/>
          </a:prstGeom>
          <a:noFill/>
        </p:spPr>
        <p:txBody>
          <a:bodyPr wrap="square" lIns="0" tIns="0" rIns="0" bIns="0" rtlCol="0" anchor="ctr"/>
          <a:lstStyle/>
          <a:p>
            <a:pPr marL="0" indent="0" algn="l">
              <a:buNone/>
            </a:pPr>
            <a:r>
              <a:rPr lang="en-US" sz="3200" b="1" dirty="0">
                <a:solidFill>
                  <a:schemeClr val="tx1"/>
                </a:solidFill>
              </a:rPr>
              <a:t>Where it goes, and what I will make</a:t>
            </a:r>
            <a:endParaRPr lang="en-US" sz="3200" dirty="0"/>
          </a:p>
        </p:txBody>
      </p:sp>
      <p:sp>
        <p:nvSpPr>
          <p:cNvPr id="3" name="Text 2"/>
          <p:cNvSpPr/>
          <p:nvPr>
            <p:ph type="body" idx="103" hasCustomPrompt="1"/>
          </p:nvPr>
        </p:nvSpPr>
        <p:spPr>
          <a:xfrm>
            <a:off x="548640" y="1371600"/>
            <a:ext cx="6766560" cy="4663440"/>
          </a:xfrm>
          <a:prstGeom prst="rect">
            <a:avLst/>
          </a:prstGeom>
          <a:noFill/>
        </p:spPr>
        <p:txBody>
          <a:bodyPr wrap="square" lIns="635" tIns="635" rIns="635" bIns="635" rtlCol="0" anchor="t"/>
          <a:lstStyle/>
          <a:p>
            <a:pPr marL="0" indent="0" algn="l">
              <a:buNone/>
            </a:pPr>
            <a:r>
              <a:rPr lang="en-US" sz="2200" b="1" dirty="0">
                <a:solidFill>
                  <a:schemeClr val="tx1"/>
                </a:solidFill>
              </a:rPr>
              <a:t>SIGGRAPH 2027 · Art Papers · short paper · 19 January 2027, 22:00 GMT</a:t>
            </a:r>
            <a:endParaRPr lang="en-US" sz="2200" dirty="0"/>
          </a:p>
          <a:p>
            <a:pPr marL="0" indent="0" algn="l">
              <a:buNone/>
            </a:pPr>
            <a:r>
              <a:rPr lang="en-US" sz="2200" dirty="0">
                <a:solidFill>
                  <a:schemeClr val="tx1"/>
                </a:solidFill>
              </a:rPr>
              <a:t>Review focus: critical artistic inquiry, rigorous research, and a clear contribution.</a:t>
            </a:r>
            <a:endParaRPr lang="en-US" sz="2200" dirty="0"/>
          </a:p>
          <a:p>
            <a:pPr marL="0" indent="0" algn="l">
              <a:buNone/>
            </a:pPr>
            <a:endParaRPr lang="en-US" sz="2200" dirty="0"/>
          </a:p>
          <a:p>
            <a:pPr marL="0" indent="0" algn="l">
              <a:buNone/>
            </a:pPr>
            <a:r>
              <a:rPr lang="en-US" sz="2200" dirty="0">
                <a:solidFill>
                  <a:schemeClr val="tx1"/>
                </a:solidFill>
              </a:rPr>
              <a:t>DIS 2027 · Pictorials · deadline to reconfirm</a:t>
            </a:r>
            <a:endParaRPr lang="en-US" sz="2200" dirty="0"/>
          </a:p>
        </p:txBody>
      </p:sp>
      <p:sp>
        <p:nvSpPr>
          <p:cNvPr id="4" name="side label"/>
          <p:cNvSpPr txBox="1"/>
          <p:nvPr/>
        </p:nvSpPr>
        <p:spPr>
          <a:xfrm>
            <a:off x="7863840" y="1508760"/>
            <a:ext cx="3520440" cy="411480"/>
          </a:xfrm>
          <a:prstGeom prst="rect">
            <a:avLst/>
          </a:prstGeom>
          <a:noFill/>
        </p:spPr>
        <p:txBody>
          <a:bodyPr wrap="square" lIns="0" tIns="0" rIns="0" bIns="0" rtlCol="0" anchor="ctr"/>
          <a:lstStyle/>
          <a:p>
            <a:pPr marL="0" indent="0">
              <a:buNone/>
            </a:pPr>
            <a:r>
              <a:rPr lang="en-US" sz="1800" b="1" dirty="0">
                <a:solidFill>
                  <a:schemeClr val="tx1"/>
                </a:solidFill>
                <a:latin typeface="+mj-lt"/>
                <a:ea typeface="+mj-lt"/>
                <a:cs typeface="+mj-lt"/>
              </a:rPr>
              <a:t>By 25 November</a:t>
            </a:r>
            <a:endParaRPr lang="en-US" sz="1800" dirty="0"/>
          </a:p>
        </p:txBody>
      </p:sp>
      <p:sp>
        <p:nvSpPr>
          <p:cNvPr id="5" name="Text 3"/>
          <p:cNvSpPr/>
          <p:nvPr>
            <p:ph type="body" idx="105" hasCustomPrompt="1"/>
          </p:nvPr>
        </p:nvSpPr>
        <p:spPr>
          <a:xfrm>
            <a:off x="7863840" y="2011680"/>
            <a:ext cx="3520440" cy="3840480"/>
          </a:xfrm>
          <a:prstGeom prst="rect">
            <a:avLst/>
          </a:prstGeom>
          <a:noFill/>
        </p:spPr>
        <p:txBody>
          <a:bodyPr wrap="square" lIns="635" tIns="635" rIns="635" bIns="635" rtlCol="0" anchor="t"/>
          <a:lstStyle/>
          <a:p>
            <a:pPr marL="0" indent="0" algn="l">
              <a:buNone/>
            </a:pPr>
            <a:r>
              <a:rPr lang="en-US" sz="1800" dirty="0">
                <a:solidFill>
                  <a:schemeClr val="tx1"/>
                </a:solidFill>
              </a:rPr>
              <a:t>One photographic record. Three memory-driven imaging branches. One working coexistence system. Three annotated photographic prints. Camera, computer, photographic printer.</a:t>
            </a:r>
            <a:endParaRPr lang="en-US" sz="1800" dirty="0"/>
          </a:p>
          <a:p>
            <a:pPr marL="0" indent="0" algn="l">
              <a:buNone/>
            </a:pPr>
            <a:r>
              <a:rPr lang="en-US" sz="1800" dirty="0">
                <a:solidFill>
                  <a:schemeClr val="tx1"/>
                </a:solidFill>
              </a:rPr>
              <a:t>No image yet.</a:t>
            </a:r>
            <a:endParaRPr lang="en-US" sz="1800" dirty="0"/>
          </a:p>
        </p:txBody>
      </p:sp>
      <p:sp>
        <p:nvSpPr>
          <p:cNvPr id="25" name="Slide Number Placeholder 0"/>
          <p:cNvSpPr>
            <a:spLocks noGrp="1"/>
          </p:cNvSpPr>
          <p:nvPr>
            <p:ph type="sldNum" sz="quarter" idx="4294967295"/>
          </p:nvPr>
        </p:nvSpPr>
        <p:spPr>
          <a:xfrm>
            <a:off x="11155680" y="6400800"/>
            <a:ext cx="457200" cy="274320"/>
          </a:xfrm>
          <a:prstGeom prst="rect">
            <a:avLst/>
          </a:prstGeom>
        </p:spPr>
        <p:txBody>
          <a:bodyPr/>
          <a:lstStyle>
            <a:lvl1pPr>
              <a:defRPr sz="1000">
                <a:solidFill>
                  <a:schemeClr val="tx2"/>
                </a:solidFill>
              </a:defRPr>
            </a:lvl1pPr>
          </a:lstStyle>
          <a:p>
            <a:pPr algn="r"/>
            <a:fld id="{F7021451-1387-4CA6-816F-3879F97B5CBC}" type="slidenum">
              <a:rPr lang="en-US" b="0"/>
            </a:fld>
            <a:endParaRPr lang="en-US"/>
          </a:p>
        </p:txBody>
      </p:sp>
    </p:spTree>
  </p:cSld>
  <p:clrMapOvr>
    <a:masterClrMapping/>
  </p:clrMapOvr>
</p:sld>
</file>

<file path=ppt/theme/theme1.xml><?xml version="1.0" encoding="utf-8"?>
<a:theme xmlns:a="http://schemas.openxmlformats.org/drawingml/2006/main" name="ARTD8105 Defence">
  <a:themeElements>
    <a:clrScheme name="ARTD8105 Defence">
      <a:dk1>
        <a:srgbClr val="16213E"/>
      </a:dk1>
      <a:lt1>
        <a:srgbClr val="FFFFFF"/>
      </a:lt1>
      <a:dk2>
        <a:srgbClr val="4E5D75"/>
      </a:dk2>
      <a:lt2>
        <a:srgbClr val="F2F3F5"/>
      </a:lt2>
      <a:accent1>
        <a:srgbClr val="E94F37"/>
      </a:accent1>
      <a:accent2>
        <a:srgbClr val="16213E"/>
      </a:accent2>
      <a:accent3>
        <a:srgbClr val="7A8CA3"/>
      </a:accent3>
      <a:accent4>
        <a:srgbClr val="E2E4E8"/>
      </a:accent4>
      <a:accent5>
        <a:srgbClr val="2F6F8F"/>
      </a:accent5>
      <a:accent6>
        <a:srgbClr val="F2B134"/>
      </a:accent6>
      <a:hlink>
        <a:srgbClr val="2F6F8F"/>
      </a:hlink>
      <a:folHlink>
        <a:srgbClr val="7A8CA3"/>
      </a:folHlink>
    </a:clrScheme>
    <a:fontScheme name="ARTD8105 Defen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ARTD8105 Defence">
  <a:themeElements>
    <a:clrScheme name="ARTD8105 Defence">
      <a:dk1>
        <a:srgbClr val="16213E"/>
      </a:dk1>
      <a:lt1>
        <a:srgbClr val="FFFFFF"/>
      </a:lt1>
      <a:dk2>
        <a:srgbClr val="4E5D75"/>
      </a:dk2>
      <a:lt2>
        <a:srgbClr val="F2F3F5"/>
      </a:lt2>
      <a:accent1>
        <a:srgbClr val="E94F37"/>
      </a:accent1>
      <a:accent2>
        <a:srgbClr val="16213E"/>
      </a:accent2>
      <a:accent3>
        <a:srgbClr val="7A8CA3"/>
      </a:accent3>
      <a:accent4>
        <a:srgbClr val="E2E4E8"/>
      </a:accent4>
      <a:accent5>
        <a:srgbClr val="2F6F8F"/>
      </a:accent5>
      <a:accent6>
        <a:srgbClr val="F2B134"/>
      </a:accent6>
      <a:hlink>
        <a:srgbClr val="2F6F8F"/>
      </a:hlink>
      <a:folHlink>
        <a:srgbClr val="7A8CA3"/>
      </a:folHlink>
    </a:clrScheme>
    <a:fontScheme name="ARTD8105 Defen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2035</Words>
  <Application>WPS 演示</Application>
  <PresentationFormat>On-screen Show (16:9)</PresentationFormat>
  <Paragraphs>59</Paragraphs>
  <Slides>5</Slides>
  <Notes>5</Notes>
  <HiddenSlides>0</HiddenSlides>
  <MMClips>0</MMClips>
  <ScaleCrop>false</ScaleCrop>
  <HeadingPairs>
    <vt:vector size="6" baseType="variant">
      <vt:variant>
        <vt:lpstr>已用的字体</vt:lpstr>
      </vt:variant>
      <vt:variant>
        <vt:i4>15</vt:i4>
      </vt:variant>
      <vt:variant>
        <vt:lpstr>主题</vt:lpstr>
      </vt:variant>
      <vt:variant>
        <vt:i4>1</vt:i4>
      </vt:variant>
      <vt:variant>
        <vt:lpstr>幻灯片标题</vt:lpstr>
      </vt:variant>
      <vt:variant>
        <vt:i4>5</vt:i4>
      </vt:variant>
    </vt:vector>
  </HeadingPairs>
  <TitlesOfParts>
    <vt:vector size="21" baseType="lpstr">
      <vt:lpstr>Arial</vt:lpstr>
      <vt:lpstr>宋体</vt:lpstr>
      <vt:lpstr>Wingdings</vt:lpstr>
      <vt:lpstr>Calibri</vt:lpstr>
      <vt:lpstr>Helvetica Neue</vt:lpstr>
      <vt:lpstr>Cambria</vt:lpstr>
      <vt:lpstr>苹方-简</vt:lpstr>
      <vt:lpstr>微软雅黑</vt:lpstr>
      <vt:lpstr>方正雅意黑 GB18030L2</vt:lpstr>
      <vt:lpstr>宋体</vt:lpstr>
      <vt:lpstr>Arial Unicode MS</vt:lpstr>
      <vt:lpstr>等线 Light</vt:lpstr>
      <vt:lpstr>汉仪中等线KW</vt:lpstr>
      <vt:lpstr>等线</vt:lpstr>
      <vt:lpstr>汉仪书宋二KW</vt:lpstr>
      <vt:lpstr>ARTD8105 Defence</vt:lpstr>
      <vt:lpstr>Narrative-Driven Computational Imaging</vt:lpstr>
      <vt:lpstr>The problem</vt:lpstr>
      <vt:lpstr>The gap</vt:lpstr>
      <vt:lpstr>The contribution</vt:lpstr>
      <vt:lpstr>Where it goes, and what I will make</vt:lpstr>
    </vt:vector>
  </TitlesOfParts>
  <Company>PptxGenJS</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Idea evaluation defence — template</dc:title>
  <dc:creator>ARTD8105</dc:creator>
  <dc:subject>PptxGenJS Presentation</dc:subject>
  <cp:lastModifiedBy>殼</cp:lastModifiedBy>
  <cp:revision>2</cp:revision>
  <dcterms:created xsi:type="dcterms:W3CDTF">2026-10-20T16:19:32Z</dcterms:created>
  <dcterms:modified xsi:type="dcterms:W3CDTF">2026-10-20T16:19:32Z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21A2D15E78EE4C1E9494D76A47E370B7_42</vt:lpwstr>
  </property>
  <property fmtid="{D5CDD505-2E9C-101B-9397-08002B2CF9AE}" pid="3" name="KSOProductBuildVer">
    <vt:lpwstr>2052-12.1.28496.28496</vt:lpwstr>
  </property>
</Properties>
</file>