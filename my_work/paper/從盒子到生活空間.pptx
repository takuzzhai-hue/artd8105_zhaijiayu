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A86F35"/>
                </a:solidFill>
                <a:latin typeface="PingFang SC"/>
                <a:ea typeface="PingFang SC"/>
              </a:rPr>
              <a:t>從盒子到生活空間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2A241A"/>
                </a:solidFill>
                <a:latin typeface="PingFang SC"/>
                <a:ea typeface="PingFang SC"/>
              </a:rPr>
              <a:t>從盒子到生活空間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6B5E4E"/>
                </a:solidFill>
                <a:latin typeface="PingFang SC"/>
                <a:ea typeface="PingFang SC"/>
              </a:rPr>
              <a:t>IKEA 紙製收納與臨時性的設計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480560"/>
            <a:ext cx="1371600" cy="45720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5E4E"/>
                </a:solidFill>
                <a:latin typeface="PingFang SC"/>
                <a:ea typeface="PingFang SC"/>
              </a:rPr>
              <a:t>From the box to living space  ·  IKEA paper storage and the design of the temporary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1  / 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從 IKEA 的紙盒開始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1800"/>
              </a:spcAft>
            </a:pPr>
            <a:r>
              <a:rPr sz="2000" b="0">
                <a:solidFill>
                  <a:srgbClr val="2A241A"/>
                </a:solidFill>
                <a:latin typeface="PingFang SC"/>
                <a:ea typeface="PingFang SC"/>
              </a:rPr>
              <a:t>在日本 IKEA 的收納區，紙與紙板被大量使用；但在國內的收納區，紙製收納的比例明顯低得多。</a:t>
            </a:r>
          </a:p>
          <a:p>
            <a:pPr algn="l">
              <a:lnSpc>
                <a:spcPct val="135000"/>
              </a:lnSpc>
              <a:spcAft>
                <a:spcPts val="1800"/>
              </a:spcAft>
            </a:pPr>
            <a:r>
              <a:rPr sz="2000" b="0">
                <a:solidFill>
                  <a:srgbClr val="2A241A"/>
                </a:solidFill>
                <a:latin typeface="PingFang SC"/>
                <a:ea typeface="PingFang SC"/>
              </a:rPr>
              <a:t>我們通常認為收納用品應該堅固、防水、耐久，但 IKEA 卻持續使用紙板這種相對脆弱的材料。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一、從 IKEA 的紙盒開始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2  / 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紙板具有一些與傳統家具完全不同的特點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0116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011680" cy="73152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輕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011680"/>
            <a:ext cx="20116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2011680"/>
            <a:ext cx="2011680" cy="73152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69748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可折疊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011680"/>
            <a:ext cx="20116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2011680"/>
            <a:ext cx="2011680" cy="73152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69748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可組裝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11680"/>
            <a:ext cx="20116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011680"/>
            <a:ext cx="2011680" cy="73152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69748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可替換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011680"/>
            <a:ext cx="20116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2011680"/>
            <a:ext cx="2011680" cy="73152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69748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可回收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一、從 IKEA 的紙盒開始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3  / 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A86F35"/>
                </a:solidFill>
                <a:latin typeface="PingFang SC"/>
                <a:ea typeface="PingFang SC"/>
              </a:rPr>
              <a:t>於是我開始思考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為什麼一種看起來並不永久的材料，
可以長期參與我們的日常生活與空間組織？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一、從 IKEA 的紙盒開始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4  / 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五個 IKEA 紙製品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5E4E"/>
                </a:solidFill>
                <a:latin typeface="PingFang SC"/>
                <a:ea typeface="PingFang SC"/>
              </a:rPr>
              <a:t>這五個產品完成尺度的升級：從一張紙，到容器，到系統，到家具。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12264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A86F35"/>
                </a:solidFill>
                <a:latin typeface="PingFang SC"/>
                <a:ea typeface="PingFang S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12264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A241A"/>
                </a:solidFill>
                <a:latin typeface="PingFang SC"/>
                <a:ea typeface="PingFang SC"/>
              </a:rPr>
              <a:t>FJÄDERHARV 收納盒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12264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5E4E"/>
                </a:solidFill>
                <a:latin typeface="PingFang SC"/>
                <a:ea typeface="PingFang SC"/>
              </a:rPr>
              <a:t>紙 → 容器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35224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A86F35"/>
                </a:solidFill>
                <a:latin typeface="PingFang SC"/>
                <a:ea typeface="PingFang S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35224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A241A"/>
                </a:solidFill>
                <a:latin typeface="PingFang SC"/>
                <a:ea typeface="PingFang SC"/>
              </a:rPr>
              <a:t>FJÄDERHARV 雜誌文件盒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935224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5E4E"/>
                </a:solidFill>
                <a:latin typeface="PingFang SC"/>
                <a:ea typeface="PingFang SC"/>
              </a:rPr>
              <a:t>容器 → 系統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58184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A86F35"/>
                </a:solidFill>
                <a:latin typeface="PingFang SC"/>
                <a:ea typeface="PingFang S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58184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A241A"/>
                </a:solidFill>
                <a:latin typeface="PingFang SC"/>
                <a:ea typeface="PingFang SC"/>
              </a:rPr>
              <a:t>FJÄDERHARV 迷你抽屜櫃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758184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5E4E"/>
                </a:solidFill>
                <a:latin typeface="PingFang SC"/>
                <a:ea typeface="PingFang SC"/>
              </a:rPr>
              <a:t>容器 → 家具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34840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81144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A86F35"/>
                </a:solidFill>
                <a:latin typeface="PingFang SC"/>
                <a:ea typeface="PingFang S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81144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A241A"/>
                </a:solidFill>
                <a:latin typeface="PingFang SC"/>
                <a:ea typeface="PingFang SC"/>
              </a:rPr>
              <a:t>GÄRDESGÅRD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581144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5E4E"/>
                </a:solidFill>
                <a:latin typeface="PingFang SC"/>
                <a:ea typeface="PingFang SC"/>
              </a:rPr>
              <a:t>公開材料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57800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04104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A86F35"/>
                </a:solidFill>
                <a:latin typeface="PingFang SC"/>
                <a:ea typeface="PingFang SC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04104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A241A"/>
                </a:solidFill>
                <a:latin typeface="PingFang SC"/>
                <a:ea typeface="PingFang SC"/>
              </a:rPr>
              <a:t>KVARNVIK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404104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5E4E"/>
                </a:solidFill>
                <a:latin typeface="PingFang SC"/>
                <a:ea typeface="PingFang SC"/>
              </a:rPr>
              <a:t>掩飾材料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二、五個 IKEA 紙製品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5  / 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EE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二  · 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2A241A"/>
                </a:solidFill>
                <a:latin typeface="PingFang SC"/>
                <a:ea typeface="PingFang SC"/>
              </a:rPr>
              <a:t>FJÄDERHARV 收納盒  ——  紙 → 容器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一張平面紙板經過折疊與組裝，形成六個面，並產生一個內部空間。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平板包裝時體積幾乎為零，空間是在使用者手上生成。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960120"/>
            <a:ext cx="379476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jaederharv_bo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051560"/>
            <a:ext cx="36118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4846320"/>
            <a:ext cx="3794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5E4E"/>
                </a:solidFill>
                <a:latin typeface="PingFang SC"/>
                <a:ea typeface="PingFang SC"/>
              </a:rPr>
              <a:t>FJÄDERHARV 收納盒
來源：IKEA 官網產品圖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二、五個 IKEA 紙製品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6  / 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EE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二  · 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2A241A"/>
                </a:solidFill>
                <a:latin typeface="PingFang SC"/>
                <a:ea typeface="PingFang SC"/>
              </a:rPr>
              <a:t>FJÄDERHARV 雜誌文件盒  ——  容器 → 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雜誌盒的尺寸並不是獨立存在的，它必須對應一條尺寸鏈：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1">
                <a:solidFill>
                  <a:srgbClr val="A86F35"/>
                </a:solidFill>
                <a:latin typeface="PingFang SC"/>
                <a:ea typeface="PingFang SC"/>
              </a:rPr>
              <a:t>文件 → 收納盒 → 書架 → 家具 → 房間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它的價值不在自身強度，而在能否嵌入既有的尺寸系統。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斜切的開口：用「減少材料」換取可視性與抽取的動作。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單面開放：放棄密閉性，換來單手操作。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一個很小的紙製品，進入了更大的空間系統，參與了生活空間的組織。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960120"/>
            <a:ext cx="379476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jaederharv_magaz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051560"/>
            <a:ext cx="36118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4846320"/>
            <a:ext cx="3794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5E4E"/>
                </a:solidFill>
                <a:latin typeface="PingFang SC"/>
                <a:ea typeface="PingFang SC"/>
              </a:rPr>
              <a:t>FJÄDERHARV 雜誌文件盒
來源：IKEA 官網產品圖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二、五個 IKEA 紙製品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7  / 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EE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二  · 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2A241A"/>
                </a:solidFill>
                <a:latin typeface="PingFang SC"/>
                <a:ea typeface="PingFang SC"/>
              </a:rPr>
              <a:t>FJÄDERHARV 迷你抽屜櫃  ——  容器 → 家具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它仍然主要由紙板構成，但增加了：外框 / 抽屜 / 抽拉結構。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外框承重、抽屜收納，把紙不能受力的弱點交給框架，紙只負責圍合。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抽屜引入了「動作」：拉出、推入。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多個小抽屜意味著分類，它從「放東西的地方」變成「產生秩序的裝置」。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960120"/>
            <a:ext cx="379476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jaederharv_ch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051560"/>
            <a:ext cx="36118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4846320"/>
            <a:ext cx="3794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5E4E"/>
                </a:solidFill>
                <a:latin typeface="PingFang SC"/>
                <a:ea typeface="PingFang SC"/>
              </a:rPr>
              <a:t>FJÄDERHARV 迷你抽屜櫃
來源：IKEA 官網產品圖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二、五個 IKEA 紙製品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8  / 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EE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二  · 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2A241A"/>
                </a:solidFill>
                <a:latin typeface="PingFang SC"/>
                <a:ea typeface="PingFang SC"/>
              </a:rPr>
              <a:t>GÄRDESGÅRD  ——  公開材料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與白色的 FJÄDERHARV 不同，GÄRDESGÅRD 保留了非常明顯的原色紙板質感與瓦楞紋理。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它沒有試圖隱藏自己是一種普通、廉價的紙材料，材料的身份是公開的。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引入「可替換」的概念，誠實的材料表達，降低了使用者的心理成本。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960120"/>
            <a:ext cx="379476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aerdesg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051560"/>
            <a:ext cx="36118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4846320"/>
            <a:ext cx="3794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5E4E"/>
                </a:solidFill>
                <a:latin typeface="PingFang SC"/>
                <a:ea typeface="PingFang SC"/>
              </a:rPr>
              <a:t>GÄRDESGÅRD
來源：IKEA 官網產品圖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二、五個 IKEA 紙製品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9  / 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EE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二  ·  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2A241A"/>
                </a:solidFill>
                <a:latin typeface="PingFang SC"/>
                <a:ea typeface="PingFang SC"/>
              </a:rPr>
              <a:t>KVARNVIK  ——  掩飾材料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KVARNVIK 同樣以紙板為主要結構，但透過表面處理、把手、邊緣包邊與蓋子的合縫，看起來更像一件可以長期保存物品的正式收納家具。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它用細節借來了「耐久家具」的語言。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材料是臨時的，但設計讓我們產生永久的期待。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960120"/>
            <a:ext cx="379476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varnvi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051560"/>
            <a:ext cx="36118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4846320"/>
            <a:ext cx="3794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5E4E"/>
                </a:solidFill>
                <a:latin typeface="PingFang SC"/>
                <a:ea typeface="PingFang SC"/>
              </a:rPr>
              <a:t>KVARNVIK
來源：IKEA 官網產品圖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二、五個 IKEA 紙製品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10  / 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為什麼是紙？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5E4E"/>
                </a:solidFill>
                <a:latin typeface="PingFang SC"/>
                <a:ea typeface="PingFang SC"/>
              </a:rPr>
              <a:t>這五個產品共同具有一些特點：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0116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A241A"/>
                </a:solidFill>
                <a:latin typeface="PingFang SC"/>
                <a:ea typeface="PingFang SC"/>
              </a:rPr>
              <a:t>輕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011680"/>
            <a:ext cx="20116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46888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A241A"/>
                </a:solidFill>
                <a:latin typeface="PingFang SC"/>
                <a:ea typeface="PingFang SC"/>
              </a:rPr>
              <a:t>可折疊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011680"/>
            <a:ext cx="20116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A241A"/>
                </a:solidFill>
                <a:latin typeface="PingFang SC"/>
                <a:ea typeface="PingFang SC"/>
              </a:rPr>
              <a:t>可替換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2011680"/>
            <a:ext cx="20116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46888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A241A"/>
                </a:solidFill>
                <a:latin typeface="PingFang SC"/>
                <a:ea typeface="PingFang SC"/>
              </a:rPr>
              <a:t>可調整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011680"/>
            <a:ext cx="20116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46888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A241A"/>
                </a:solidFill>
                <a:latin typeface="PingFang SC"/>
                <a:ea typeface="PingFang SC"/>
              </a:rPr>
              <a:t>非永久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2A241A"/>
                </a:solidFill>
                <a:latin typeface="PingFang SC"/>
                <a:ea typeface="PingFang SC"/>
              </a:rPr>
              <a:t>通常我們會把這些特徵理解成材料的缺點。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三、為什麼是紙？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11  / 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日本傳統空間中的紙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B5E4E"/>
                </a:solidFill>
                <a:latin typeface="PingFang SC"/>
                <a:ea typeface="PingFang SC"/>
              </a:rPr>
              <a:t>這讓我想到日本傳統生活中紙的使用：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349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91440" cy="1261872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75687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A241A"/>
                </a:solidFill>
                <a:latin typeface="PingFang SC"/>
                <a:ea typeface="PingFang SC"/>
              </a:rPr>
              <a:t>障子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599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B5E4E"/>
                </a:solidFill>
                <a:latin typeface="PingFang SC"/>
                <a:ea typeface="PingFang SC"/>
              </a:rPr>
              <a:t>用紙形成透光的空間邊界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74519"/>
            <a:ext cx="5349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91440" cy="1261872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75687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A241A"/>
                </a:solidFill>
                <a:latin typeface="PingFang SC"/>
                <a:ea typeface="PingFang SC"/>
              </a:rPr>
              <a:t>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14599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B5E4E"/>
                </a:solidFill>
                <a:latin typeface="PingFang SC"/>
                <a:ea typeface="PingFang SC"/>
              </a:rPr>
              <a:t>可以移動，改變房間之間的關係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39"/>
            <a:ext cx="5349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91839"/>
            <a:ext cx="91440" cy="1261872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93007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A241A"/>
                </a:solidFill>
                <a:latin typeface="PingFang SC"/>
                <a:ea typeface="PingFang SC"/>
              </a:rPr>
              <a:t>和紙包裝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19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B5E4E"/>
                </a:solidFill>
                <a:latin typeface="PingFang SC"/>
                <a:ea typeface="PingFang SC"/>
              </a:rPr>
              <a:t>暫時包裹與保護物體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91839"/>
            <a:ext cx="5349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291839"/>
            <a:ext cx="91440" cy="1261872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493007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A241A"/>
                </a:solidFill>
                <a:latin typeface="PingFang SC"/>
                <a:ea typeface="PingFang SC"/>
              </a:rPr>
              <a:t>折形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31919"/>
            <a:ext cx="4754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B5E4E"/>
                </a:solidFill>
                <a:latin typeface="PingFang SC"/>
                <a:ea typeface="PingFang SC"/>
              </a:rPr>
              <a:t>透過折疊產生邊界與容器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2A241A"/>
                </a:solidFill>
                <a:latin typeface="PingFang SC"/>
                <a:ea typeface="PingFang SC"/>
              </a:rPr>
              <a:t>紙並不是最堅固的材料，卻長期承擔著重要的空間功能。
它們有一個共同特點：不追求用最堅固的材料永久固定空間，而是允許空間被改變、替換與重新組織。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四、日本傳統空間中的紙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12  / 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脆弱也可以是一種功能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我們通常認為好的設計應該是：耐用、堅固、長久。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但在實際使用 IKEA 紙盒的過程中，我發現它恰恰不是這樣：不能清洗、污漬很難擦除、容易損壞、不能承受太重的物品。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但同時，紙也因此獲得另一種特性：輕、可替換、可折疊、非永久。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障子的紙損壞以後，可以重新替換。紙盒也一樣——方便打包帶走，方便斷捨離，方便經歷每一段生活。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五、脆弱也可以是一種功能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13  / 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2A241A"/>
                </a:solidFill>
                <a:latin typeface="PingFang SC"/>
                <a:ea typeface="PingFang SC"/>
              </a:rPr>
              <a:t>如果人的生活本身不斷變化，那麼容易移動、替換與重新組織，也可能是一種性能。
而在我的生活中，我確實不斷需要紙盒來重新建立秩序。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五、脆弱也可以是一種功能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14  / 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井本佐保里的居住研究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這讓我聯想到井本佐保里關於居住環境、災後臨時居住、住宅重建與社區生活的研究。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2A241A"/>
                </a:solidFill>
                <a:latin typeface="PingFang SC"/>
                <a:ea typeface="PingFang SC"/>
              </a:rPr>
              <a:t>她關注的一個重要問題是：人在不斷變化的環境中，如何繼續生活。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在災後的居住環境中，人的生活並不是簡單地：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A86F35"/>
                </a:solidFill>
                <a:latin typeface="PingFang SC"/>
                <a:ea typeface="PingFang SC"/>
              </a:rPr>
              <a:t>舊住宅  →  新住宅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而是可能經歷：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A86F35"/>
                </a:solidFill>
                <a:latin typeface="PingFang SC"/>
                <a:ea typeface="PingFang SC"/>
              </a:rPr>
              <a:t>臨時居住  →  移動  →  調整  →  關係重新形成  →  新的居住環境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2A241A"/>
                </a:solidFill>
                <a:latin typeface="PingFang SC"/>
                <a:ea typeface="PingFang SC"/>
              </a:rPr>
              <a:t>從這個角度看，「臨時」並不意味著生活停止了。即使空間是臨時的、物品是臨時的，人仍然需要整理物品、建立關係、形成秩序，並繼續生活。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六、井本佐保里的居住研究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15  / 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9144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6F35"/>
                </a:solidFill>
                <a:latin typeface="PingFang SC"/>
                <a:ea typeface="PingFang SC"/>
              </a:rPr>
              <a:t>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重新理解 IKEA 的紙盒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234440" cy="36576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再回來看這五個紙製品，我不再把它們理解為「不夠耐用的收納家具」。</a:t>
            </a:r>
          </a:p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000" b="1">
                <a:solidFill>
                  <a:srgbClr val="2A241A"/>
                </a:solidFill>
                <a:latin typeface="PingFang SC"/>
                <a:ea typeface="PingFang SC"/>
              </a:rPr>
              <a:t>恰恰相反：臨時性的物件，也可以支持持續的生活。</a:t>
            </a:r>
          </a:p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紙盒會損壞、會被替換、會隨著搬家與生活階段而消失。</a:t>
            </a:r>
          </a:p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1800" b="0">
                <a:solidFill>
                  <a:srgbClr val="2A241A"/>
                </a:solidFill>
                <a:latin typeface="PingFang SC"/>
                <a:ea typeface="PingFang SC"/>
              </a:rPr>
              <a:t>但「整理生活」這件事不會消失。每當生活發生變化，我們又需要重新尋找新的容器、新的位置與新的秩序。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七、重新理解 IKEA 的紙盒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16  / 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A86F35"/>
                </a:solidFill>
                <a:latin typeface="PingFang SC"/>
                <a:ea typeface="PingFang SC"/>
              </a:rPr>
              <a:t>因此，我最後想提出的問題是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A241A"/>
                </a:solidFill>
                <a:latin typeface="PingFang SC"/>
                <a:ea typeface="PingFang SC"/>
              </a:rPr>
              <a:t>如果生活本身一直在變化，為什麼設計一定要永久？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108960"/>
            <a:ext cx="1280160" cy="45720"/>
          </a:xfrm>
          <a:prstGeom prst="rect">
            <a:avLst/>
          </a:prstGeom>
          <a:solidFill>
            <a:srgbClr val="A86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B5E4E"/>
                </a:solidFill>
                <a:latin typeface="PingFang SC"/>
                <a:ea typeface="PingFang SC"/>
              </a:rPr>
              <a:t>也許接受紙的「脆弱」：接受物品不會永遠存在，也接受生活本身具有脆弱性與不確定性。
設計不一定需要對抗這種變化。它也可以幫助我們在變化發生之後，再一次建立生活。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七、重新理解 IKEA 的紙盒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5E4E"/>
                </a:solidFill>
                <a:latin typeface="PingFang SC"/>
                <a:ea typeface="PingFang SC"/>
              </a:rPr>
              <a:t>17  /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